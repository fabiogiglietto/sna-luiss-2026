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92846" y="933599"/>
            <a:ext cx="4558308" cy="312390"/>
          </a:xfrm>
          <a:prstGeom prst="roundRect">
            <a:avLst>
              <a:gd name="adj" fmla="val 60981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41573" y="1009799"/>
            <a:ext cx="42608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OSINT, AI &amp; SECURITY STUDIES — LUISS 2025/26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458120" y="1626989"/>
            <a:ext cx="422776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1200"/>
              </a:spcAft>
              <a:buNone/>
            </a:pPr>
            <a:r>
              <a:rPr lang="en-US" sz="31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Analisi delle Reti Sociali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2962567" y="2411760"/>
            <a:ext cx="32188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Rappresentazioni e Proprietà di Base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91000" y="3135660"/>
            <a:ext cx="762000" cy="28575"/>
          </a:xfrm>
          <a:prstGeom prst="rect">
            <a:avLst/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70855" y="3621435"/>
            <a:ext cx="120214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Fabio Giglietto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73886" y="4036665"/>
            <a:ext cx="19960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9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Gennaio 2026 • Blocco 1 (75 min)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064746" y="4772025"/>
            <a:ext cx="28493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Coscia (2025) - The Atlas for the Aspiring Network Scientist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Obiettivi del Blocco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2314724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1012" y="2354759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81050" y="2314724"/>
            <a:ext cx="53726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Comprendere i fondamenti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781050" y="2516535"/>
            <a:ext cx="53726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e un grafo, nodi, archi e le diverse rappresentazioni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809875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1012" y="2849910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1050" y="2809875"/>
            <a:ext cx="53726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Padroneggiare le metriche base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781050" y="3011686"/>
            <a:ext cx="53726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Degree, density e varianti per grafi diretti e pesati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1000" y="330502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012" y="3345061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1050" y="3305026"/>
            <a:ext cx="537267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225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Collegare teoria e OSINT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81050" y="3506837"/>
            <a:ext cx="53726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rappresentare reti di disinformazione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86500" y="2161282"/>
            <a:ext cx="2476500" cy="1658987"/>
          </a:xfrm>
          <a:prstGeom prst="roundRect">
            <a:avLst>
              <a:gd name="adj" fmla="val 4593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305550" y="2161282"/>
            <a:ext cx="0" cy="1658987"/>
          </a:xfrm>
          <a:prstGeom prst="line">
            <a:avLst/>
          </a:prstGeom>
          <a:noFill/>
          <a:ln w="38100">
            <a:solidFill>
              <a:srgbClr val="1A36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7000" y="2313682"/>
            <a:ext cx="21762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75 MIN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77000" y="2587972"/>
            <a:ext cx="21762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 - Graph Repr.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77000" y="2767013"/>
            <a:ext cx="21762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 6-8 del manuale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477000" y="3008858"/>
            <a:ext cx="21762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 - Simple Props.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77000" y="3187898"/>
            <a:ext cx="21762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 9, 12 del manuale</a:t>
            </a:r>
            <a:endParaRPr lang="en-US" sz="825" dirty="0"/>
          </a:p>
        </p:txBody>
      </p:sp>
      <p:sp>
        <p:nvSpPr>
          <p:cNvPr id="23" name="Shape 21"/>
          <p:cNvSpPr/>
          <p:nvPr/>
        </p:nvSpPr>
        <p:spPr>
          <a:xfrm>
            <a:off x="6477000" y="3434507"/>
            <a:ext cx="2133600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7000" y="3534519"/>
            <a:ext cx="2176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networkatlas.eu/exercises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26268" y="1303139"/>
            <a:ext cx="29146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300"/>
              </a:lnSpc>
              <a:spcAft>
                <a:spcPts val="750"/>
              </a:spcAft>
              <a:buNone/>
            </a:pPr>
            <a:r>
              <a:rPr lang="en-US" sz="4500" b="1" dirty="0">
                <a:solidFill>
                  <a:srgbClr val="ED8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298573" y="2350889"/>
            <a:ext cx="454685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 rappresentiamo una rete di account che condividono gli stessi link?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143125" y="3440311"/>
            <a:ext cx="4857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Questa e la domanda fondamentale per identificare comportamenti coordinati nelle operazioni di disinformazione.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 e un Grafo?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841450"/>
            <a:ext cx="5476875" cy="775246"/>
          </a:xfrm>
          <a:prstGeom prst="roundRect">
            <a:avLst>
              <a:gd name="adj" fmla="val 9829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841450"/>
            <a:ext cx="0" cy="775246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0160" y="1993850"/>
            <a:ext cx="52366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(V, 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0160" y="2317700"/>
            <a:ext cx="52366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 incluso in V x V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750046"/>
            <a:ext cx="55864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Insieme dei Vertici (Nodi)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1000" y="2980432"/>
            <a:ext cx="55864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 attori: persone, account, pagine, URL.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3273772"/>
            <a:ext cx="55864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= Insieme degli Edge (Archi)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81000" y="3504158"/>
            <a:ext cx="55864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relazioni: amicizie, retweet, link condivisi.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5288" y="3797498"/>
            <a:ext cx="0" cy="304651"/>
          </a:xfrm>
          <a:prstGeom prst="line">
            <a:avLst/>
          </a:prstGeom>
          <a:noFill/>
          <a:ln w="28575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2925" y="3797498"/>
            <a:ext cx="54212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180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want to strip out the internal structure to get to a node. It is like a point in geometry."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42925" y="3982194"/>
            <a:ext cx="542124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Coscia, Cap. 6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6096000" y="2225129"/>
            <a:ext cx="2667000" cy="1493193"/>
          </a:xfrm>
          <a:prstGeom prst="roundRect">
            <a:avLst>
              <a:gd name="adj" fmla="val 5103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48400" y="2377529"/>
            <a:ext cx="24094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900"/>
              </a:spcAft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 SEMPLICE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6248400" y="2611785"/>
            <a:ext cx="240944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Nodi rappresentati come cerchi, archi come linee che li connettono.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248400" y="3000226"/>
            <a:ext cx="2362200" cy="565696"/>
          </a:xfrm>
          <a:prstGeom prst="roundRect">
            <a:avLst>
              <a:gd name="adj" fmla="val 10103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62700" y="3114526"/>
            <a:ext cx="21762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|V| = 4 nodi, |E| = 4 archi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362700" y="3318272"/>
            <a:ext cx="2176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(A,B) significa A e B connessi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Grafi Diretti (Digraph)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938635"/>
            <a:ext cx="5286375" cy="657076"/>
          </a:xfrm>
          <a:prstGeom prst="roundRect">
            <a:avLst>
              <a:gd name="adj" fmla="val 11597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938635"/>
            <a:ext cx="0" cy="657076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450" y="2071985"/>
            <a:ext cx="50812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relazioni non sono sempre reciproche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52450" y="2302371"/>
            <a:ext cx="50812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un grafo diretto: (u, v) diverso da (v, u). L arco ha una direzione.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710011"/>
            <a:ext cx="53921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ESEMPI IN OSINT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2932807"/>
            <a:ext cx="539210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su Twitter/X, Retweet, Reply, Link tra siti web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5288" y="3229868"/>
            <a:ext cx="0" cy="304651"/>
          </a:xfrm>
          <a:prstGeom prst="line">
            <a:avLst/>
          </a:prstGeom>
          <a:noFill/>
          <a:ln w="28575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925" y="3229868"/>
            <a:ext cx="52269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180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fact that I consider you as my friend does not necessarily mean that you also consider me as your friend."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42925" y="3414564"/>
            <a:ext cx="52269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Coscia, Cap. 6.2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81000" y="3648819"/>
            <a:ext cx="5286375" cy="356146"/>
          </a:xfrm>
          <a:prstGeom prst="roundRect">
            <a:avLst>
              <a:gd name="adj" fmla="val 16047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5775" y="3753594"/>
            <a:ext cx="51783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Notazione: u - v oppure (u, v) indica che u punta a v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905500" y="2139553"/>
            <a:ext cx="2857500" cy="756047"/>
          </a:xfrm>
          <a:prstGeom prst="roundRect">
            <a:avLst>
              <a:gd name="adj" fmla="val 10079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38850" y="2272903"/>
            <a:ext cx="26426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DIRETTO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6038850" y="2469059"/>
            <a:ext cx="264261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(A, B) = (B, A) - Amicizia Facebook, linea semplice tra i nodi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905500" y="3009900"/>
            <a:ext cx="2857500" cy="794147"/>
          </a:xfrm>
          <a:prstGeom prst="roundRect">
            <a:avLst>
              <a:gd name="adj" fmla="val 9595"/>
            </a:avLst>
          </a:prstGeom>
          <a:solidFill>
            <a:srgbClr val="F7FAFC"/>
          </a:solidFill>
          <a:ln w="19050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57900" y="3162300"/>
            <a:ext cx="260375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DIRETTO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6057900" y="3358455"/>
            <a:ext cx="260375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- B diverso da B - A. Follow Twitter, freccia dal nodo sorgente al destinatario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Grafi Pesati (Weighted)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2015579"/>
            <a:ext cx="5286375" cy="657076"/>
          </a:xfrm>
          <a:prstGeom prst="roundRect">
            <a:avLst>
              <a:gd name="adj" fmla="val 11597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2015579"/>
            <a:ext cx="0" cy="657076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450" y="2148929"/>
            <a:ext cx="508120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tutte le connessioni hanno la stessa forza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52450" y="2379315"/>
            <a:ext cx="508120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= (V, E, W) dove W e l insieme dei pesi. Arco: (u, v, w) con w in R+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786955"/>
            <a:ext cx="2595563" cy="508546"/>
          </a:xfrm>
          <a:prstGeom prst="roundRect">
            <a:avLst>
              <a:gd name="adj" fmla="val 11238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2882205"/>
            <a:ext cx="24531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Prossimita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76250" y="3066901"/>
            <a:ext cx="24531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85E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alto = nodi piu vicini. Es: frequenza interazioni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071813" y="2786955"/>
            <a:ext cx="2595563" cy="508546"/>
          </a:xfrm>
          <a:prstGeom prst="roundRect">
            <a:avLst>
              <a:gd name="adj" fmla="val 11238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67063" y="2882205"/>
            <a:ext cx="24531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74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Distanza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167063" y="3066901"/>
            <a:ext cx="24531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B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 alto = nodi piu lontani. Es: costo connessione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81000" y="3409801"/>
            <a:ext cx="539210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Applicazioni OSINT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81000" y="3613547"/>
            <a:ext cx="539210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Numero di URL condivisi in comune, sovrapposizione temporale nelle pubblicazioni, correlazione tra serie temporali di posting.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905500" y="2278410"/>
            <a:ext cx="2857500" cy="796230"/>
          </a:xfrm>
          <a:prstGeom prst="roundRect">
            <a:avLst>
              <a:gd name="adj" fmla="val 9570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38850" y="2411760"/>
            <a:ext cx="26426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750"/>
              </a:spcAft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 PESATO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6038850" y="2626965"/>
            <a:ext cx="264261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 archi hanno spessore diverso in base al peso. Arco spesso = peso alto, arco sottile = peso basso.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905500" y="3188940"/>
            <a:ext cx="2857500" cy="47625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10275" y="3293715"/>
            <a:ext cx="27009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Attenzione: Le reti di correlazione sono complete, ogni coppia ha un peso. Servono tecniche di backboning (Cap. 27).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Rappresentazione Matriciale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2283172"/>
            <a:ext cx="539210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 di Adiacenza (A)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81000" y="2513558"/>
            <a:ext cx="53921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A[i,j] = 1 se esiste arco tra i e j, 0 altrimenti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787848"/>
            <a:ext cx="5286375" cy="434280"/>
          </a:xfrm>
          <a:prstGeom prst="roundRect">
            <a:avLst>
              <a:gd name="adj" fmla="val 17546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2921198"/>
            <a:ext cx="5120068" cy="16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Esempio 4 nodi: matrice 4x4 con 1 dove esiste connessione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3336429"/>
            <a:ext cx="2605088" cy="323850"/>
          </a:xfrm>
          <a:prstGeom prst="roundRect">
            <a:avLst>
              <a:gd name="adj" fmla="val 17647"/>
            </a:avLst>
          </a:prstGeom>
          <a:solidFill>
            <a:srgbClr val="E6FF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3431679"/>
            <a:ext cx="24628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234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diretto: A = A trasposta (simmetrica)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062288" y="3336429"/>
            <a:ext cx="2605088" cy="323850"/>
          </a:xfrm>
          <a:prstGeom prst="roundRect">
            <a:avLst>
              <a:gd name="adj" fmla="val 1764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57538" y="3431679"/>
            <a:ext cx="24628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Diretto: A diversa da A trasposta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905500" y="1992809"/>
            <a:ext cx="2857500" cy="1056977"/>
          </a:xfrm>
          <a:prstGeom prst="roundRect">
            <a:avLst>
              <a:gd name="adj" fmla="val 7209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924550" y="1992809"/>
            <a:ext cx="0" cy="1056977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76950" y="2126159"/>
            <a:ext cx="260375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Perche e importante?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76950" y="2362349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Algebra lineare: calcolo efficiente di centralita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076950" y="2566095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standard per software (igraph, Gephi)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076950" y="2769840"/>
            <a:ext cx="260375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 matrice = proprieta rete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905500" y="3164086"/>
            <a:ext cx="2857500" cy="786705"/>
          </a:xfrm>
          <a:prstGeom prst="roundRect">
            <a:avLst>
              <a:gd name="adj" fmla="val 9686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38850" y="3297436"/>
            <a:ext cx="26426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 (IGRAPH)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6038850" y="3493591"/>
            <a:ext cx="26426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graph_from_edgelist(edges)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038850" y="3674566"/>
            <a:ext cx="26426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as_adjacency_matrix(g)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Degree (Grado del Nodo)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2025253"/>
            <a:ext cx="5476875" cy="657076"/>
          </a:xfrm>
          <a:prstGeom prst="roundRect">
            <a:avLst>
              <a:gd name="adj" fmla="val 11597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2025253"/>
            <a:ext cx="0" cy="657076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450" y="2158603"/>
            <a:ext cx="52755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misura piu semplice di importanza strutturale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52450" y="2388989"/>
            <a:ext cx="52755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k(v) = numero di archi incidenti al nodo v. Degree medio: k = 2|E| / |V|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796629"/>
            <a:ext cx="55864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 grafi diretti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81000" y="3000375"/>
            <a:ext cx="2700338" cy="499021"/>
          </a:xfrm>
          <a:prstGeom prst="roundRect">
            <a:avLst>
              <a:gd name="adj" fmla="val 11452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" y="3095625"/>
            <a:ext cx="25600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In-degree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6250" y="3270796"/>
            <a:ext cx="25600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 entranti: chi ti segue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157538" y="3000375"/>
            <a:ext cx="2700338" cy="499021"/>
          </a:xfrm>
          <a:prstGeom prst="roundRect">
            <a:avLst>
              <a:gd name="adj" fmla="val 11452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52788" y="3095625"/>
            <a:ext cx="256003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Out-degree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252788" y="3270796"/>
            <a:ext cx="25600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 uscenti: chi segui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95288" y="3613696"/>
            <a:ext cx="0" cy="304651"/>
          </a:xfrm>
          <a:prstGeom prst="line">
            <a:avLst/>
          </a:prstGeom>
          <a:noFill/>
          <a:ln w="28575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925" y="3613696"/>
            <a:ext cx="54212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180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node of high degree ought to be an important node. If it disappeared, many nodes would lose a connection."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42925" y="3798391"/>
            <a:ext cx="542124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Coscia, Cap. 9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6096000" y="2278410"/>
            <a:ext cx="2667000" cy="796230"/>
          </a:xfrm>
          <a:prstGeom prst="roundRect">
            <a:avLst>
              <a:gd name="adj" fmla="val 9570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29350" y="2411760"/>
            <a:ext cx="24483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750"/>
              </a:spcAft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DI OGNI NODO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6229350" y="2626965"/>
            <a:ext cx="244830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nodo con piu connessioni e piu centrale. Es: nodo B con k=4 vs nodo A con k=2.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096000" y="3188940"/>
            <a:ext cx="2667000" cy="476250"/>
          </a:xfrm>
          <a:prstGeom prst="roundRect">
            <a:avLst>
              <a:gd name="adj" fmla="val 12000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00775" y="3293715"/>
            <a:ext cx="25065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OSINT: Account con alto in-degree ma basso out-degree puo essere un hub di disinformazione.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Varianti del Degree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2157561"/>
            <a:ext cx="2692450" cy="1076027"/>
          </a:xfrm>
          <a:prstGeom prst="roundRect">
            <a:avLst>
              <a:gd name="adj" fmla="val 7082"/>
            </a:avLst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2176611"/>
            <a:ext cx="2692450" cy="0"/>
          </a:xfrm>
          <a:prstGeom prst="line">
            <a:avLst/>
          </a:prstGeom>
          <a:noFill/>
          <a:ln w="38100">
            <a:solidFill>
              <a:srgbClr val="3182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2329011"/>
            <a:ext cx="24742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 Diretti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14350" y="2578447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In-degree: archi entranti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14350" y="2763143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Out-degree: archi uscenti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14350" y="2966889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uguali per tutti: grafo bilanciato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1000" y="3328839"/>
            <a:ext cx="2692450" cy="4572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6250" y="3424089"/>
            <a:ext cx="25519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OSINT: Alto in basso out = influencer; alto out basso in = bot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25850" y="2157561"/>
            <a:ext cx="2692450" cy="1076027"/>
          </a:xfrm>
          <a:prstGeom prst="roundRect">
            <a:avLst>
              <a:gd name="adj" fmla="val 7082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25850" y="2176611"/>
            <a:ext cx="2692450" cy="0"/>
          </a:xfrm>
          <a:prstGeom prst="line">
            <a:avLst/>
          </a:prstGeom>
          <a:noFill/>
          <a:ln w="38100">
            <a:solidFill>
              <a:srgbClr val="805A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9200" y="2329011"/>
            <a:ext cx="24742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 Pesati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359200" y="2578447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553C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degree (strength):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359200" y="2763143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s(v) = somma pesi archi incidenti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359200" y="2966889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Cattura intensita delle connessioni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25850" y="3328839"/>
            <a:ext cx="2692450" cy="457200"/>
          </a:xfrm>
          <a:prstGeom prst="roundRect">
            <a:avLst>
              <a:gd name="adj" fmla="val 12500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21100" y="3424089"/>
            <a:ext cx="25519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OSINT: Degree basso ma strength alto = poche connessioni intense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070699" y="2224236"/>
            <a:ext cx="2692450" cy="1076027"/>
          </a:xfrm>
          <a:prstGeom prst="roundRect">
            <a:avLst>
              <a:gd name="adj" fmla="val 7082"/>
            </a:avLst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70699" y="2243286"/>
            <a:ext cx="2692450" cy="0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4049" y="2395686"/>
            <a:ext cx="24742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 Bipartiti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204049" y="2645122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insiemi disgiunti V1 e V2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204049" y="2829818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Connessioni solo tra i due set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204049" y="3033564"/>
            <a:ext cx="24742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= connessioni all altro set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070699" y="3395514"/>
            <a:ext cx="2692450" cy="323850"/>
          </a:xfrm>
          <a:prstGeom prst="roundRect">
            <a:avLst>
              <a:gd name="adj" fmla="val 17647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65949" y="3490764"/>
            <a:ext cx="2551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OSINT: Rete utenti-URL poi proiezione su utenti-utenti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Density (Densita della Rete)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782366"/>
            <a:ext cx="5476875" cy="748457"/>
          </a:xfrm>
          <a:prstGeom prst="roundRect">
            <a:avLst>
              <a:gd name="adj" fmla="val 10181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782366"/>
            <a:ext cx="0" cy="748457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0160" y="1934766"/>
            <a:ext cx="523665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rho = |E| / |E|max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20160" y="2231827"/>
            <a:ext cx="52366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 |E|max = |V|(|V|-1)/2 per grafi non diretti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81000" y="2645122"/>
            <a:ext cx="558641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misura?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1000" y="2875508"/>
            <a:ext cx="55864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Proporzione di archi esistenti vs massimo possibile. Va da 0 (nessun arco) a 1 (grafo completo).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3149798"/>
            <a:ext cx="5476875" cy="592336"/>
          </a:xfrm>
          <a:prstGeom prst="roundRect">
            <a:avLst>
              <a:gd name="adj" fmla="val 9648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4825" y="3273623"/>
            <a:ext cx="53338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Fatto cruciale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4825" y="3471714"/>
            <a:ext cx="53338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reti reali sono sparse: densita molto bassa. Una rete di 2 miliardi di persone ha degree medio circa 100.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395288" y="3856434"/>
            <a:ext cx="0" cy="304651"/>
          </a:xfrm>
          <a:prstGeom prst="line">
            <a:avLst/>
          </a:prstGeom>
          <a:noFill/>
          <a:ln w="28575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2925" y="3856434"/>
            <a:ext cx="54212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180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"Real networks are sparse. The average degree is usually ridiculously lower than one would expect."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42925" y="4041130"/>
            <a:ext cx="542124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Coscia, Cap. 12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6096000" y="1951732"/>
            <a:ext cx="2667000" cy="750391"/>
          </a:xfrm>
          <a:prstGeom prst="roundRect">
            <a:avLst>
              <a:gd name="adj" fmla="val 10155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29350" y="2085082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SPARSO (TIPICO) RHO = 0.2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229350" y="2275582"/>
            <a:ext cx="244830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Pochi archi rispetto al massimo, struttura tipica delle reti reali.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096000" y="2816423"/>
            <a:ext cx="2667000" cy="603796"/>
          </a:xfrm>
          <a:prstGeom prst="roundRect">
            <a:avLst>
              <a:gd name="adj" fmla="val 12620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29350" y="2949773"/>
            <a:ext cx="2448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DENSO (RARO) RHO = 0.8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229350" y="3140273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Quasi tutti connessi a tutti, raro in natura.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096000" y="3534519"/>
            <a:ext cx="2667000" cy="457200"/>
          </a:xfrm>
          <a:prstGeom prst="roundRect">
            <a:avLst>
              <a:gd name="adj" fmla="val 12500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191250" y="3629769"/>
            <a:ext cx="25260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OSINT: Sottorete molto densa puo indicare coordinamento artificiale (bot farm).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628650"/>
          </a:xfrm>
          <a:prstGeom prst="roundRect">
            <a:avLst>
              <a:gd name="adj" fmla="val 9091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81610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150"/>
              </a:spcAft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APPLICATIVO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71500" y="438150"/>
            <a:ext cx="40902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Coordinated Link Sharing Networks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81000" y="1617464"/>
            <a:ext cx="524637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costruire una rete per identificare account che condividono contenuti in modo coordinato?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187270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3451" y="1906935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850" y="1872704"/>
            <a:ext cx="4819650" cy="489496"/>
          </a:xfrm>
          <a:prstGeom prst="roundRect">
            <a:avLst>
              <a:gd name="adj" fmla="val 11675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0100" y="1967954"/>
            <a:ext cx="47217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 Bipartita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800100" y="2133600"/>
            <a:ext cx="47217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= Account, V2 = URL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1000" y="245745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3451" y="2491680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4850" y="2457450"/>
            <a:ext cx="4819650" cy="489496"/>
          </a:xfrm>
          <a:prstGeom prst="roundRect">
            <a:avLst>
              <a:gd name="adj" fmla="val 11675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0100" y="2552700"/>
            <a:ext cx="47217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Proiezione Unimodale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800100" y="2718346"/>
            <a:ext cx="47217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 account-account, peso = URL comuni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1000" y="304219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3451" y="3076426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4850" y="3042196"/>
            <a:ext cx="4819650" cy="489496"/>
          </a:xfrm>
          <a:prstGeom prst="roundRect">
            <a:avLst>
              <a:gd name="adj" fmla="val 11675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00100" y="3137446"/>
            <a:ext cx="47217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Backboning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800100" y="3303091"/>
            <a:ext cx="47217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Filtraggio connessioni non significative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1000" y="362694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D893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3451" y="3661172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4850" y="3626941"/>
            <a:ext cx="4819650" cy="508546"/>
          </a:xfrm>
          <a:prstGeom prst="roundRect">
            <a:avLst>
              <a:gd name="adj" fmla="val 11238"/>
            </a:avLst>
          </a:prstGeom>
          <a:solidFill>
            <a:srgbClr val="FFFAF0"/>
          </a:solidFill>
          <a:ln w="9525">
            <a:solidFill>
              <a:srgbClr val="ED893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09625" y="3731716"/>
            <a:ext cx="47023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Detection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809625" y="3897362"/>
            <a:ext cx="47023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44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Identificazione cluster coordinati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715000" y="1643211"/>
            <a:ext cx="3048000" cy="2466677"/>
          </a:xfrm>
          <a:prstGeom prst="roundRect">
            <a:avLst>
              <a:gd name="adj" fmla="val 3089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867400" y="1795611"/>
            <a:ext cx="27980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900"/>
              </a:spcAft>
              <a:buNone/>
            </a:pPr>
            <a:r>
              <a:rPr lang="en-US" sz="675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FLUSSO DI TRASFORMAZIONE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5867400" y="2029867"/>
            <a:ext cx="2743200" cy="565696"/>
          </a:xfrm>
          <a:prstGeom prst="roundRect">
            <a:avLst>
              <a:gd name="adj" fmla="val 1010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81700" y="2144167"/>
            <a:ext cx="25648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Bipartita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5981700" y="2347913"/>
            <a:ext cx="2564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(cerchi) connessi a URL (quadrati)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839968" y="2690813"/>
            <a:ext cx="27980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67400" y="3052763"/>
            <a:ext cx="2743200" cy="565696"/>
          </a:xfrm>
          <a:prstGeom prst="roundRect">
            <a:avLst>
              <a:gd name="adj" fmla="val 1010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981700" y="3167063"/>
            <a:ext cx="25648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Proiettata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981700" y="3370808"/>
            <a:ext cx="2564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account, archi pesati per co-sharing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867400" y="3737521"/>
            <a:ext cx="27432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67400" y="3837533"/>
            <a:ext cx="27980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Tool: CooRnet (R package)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52400"/>
            <a:ext cx="8382000" cy="495300"/>
          </a:xfrm>
          <a:prstGeom prst="roundRect">
            <a:avLst>
              <a:gd name="adj" fmla="val 11538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285750"/>
            <a:ext cx="40902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Riepilogo e Prossimi Passi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1000" y="1524446"/>
            <a:ext cx="52463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CONCETTI CHIAVE DI OGGI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81000" y="1823442"/>
            <a:ext cx="524637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Grafo G = (V, E) - nodi e archi come astrazione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101453"/>
            <a:ext cx="524637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 diretti - relazioni asimmetriche (follow, retweet)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379464"/>
            <a:ext cx="524637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 pesati - intensita delle connessioni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1000" y="2657475"/>
            <a:ext cx="524637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 di adiacenza - rappresentazione computazionale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1000" y="2935486"/>
            <a:ext cx="524637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- misura base di importanza strutturale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3213497"/>
            <a:ext cx="524637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 - le reti reali sono sparse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1000" y="3548658"/>
            <a:ext cx="5143500" cy="546646"/>
          </a:xfrm>
          <a:prstGeom prst="roundRect">
            <a:avLst>
              <a:gd name="adj" fmla="val 10455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5300" y="3662958"/>
            <a:ext cx="50131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Prossimo Blocco (15:30)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95300" y="3847654"/>
            <a:ext cx="501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Centralita: Betweenness, Closeness, PageRank - identificare attori chiave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715000" y="1784152"/>
            <a:ext cx="3048000" cy="1169491"/>
          </a:xfrm>
          <a:prstGeom prst="roundRect">
            <a:avLst>
              <a:gd name="adj" fmla="val 6516"/>
            </a:avLst>
          </a:prstGeom>
          <a:solidFill>
            <a:srgbClr val="F7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734050" y="1784152"/>
            <a:ext cx="0" cy="1169491"/>
          </a:xfrm>
          <a:prstGeom prst="line">
            <a:avLst/>
          </a:prstGeom>
          <a:noFill/>
          <a:ln w="38100">
            <a:solidFill>
              <a:srgbClr val="ED89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86450" y="1917502"/>
            <a:ext cx="2798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ESERCIZI CONSIGLIATI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886450" y="2146102"/>
            <a:ext cx="27980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 6 - Basic Graphs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886450" y="2311747"/>
            <a:ext cx="2798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spcAft>
                <a:spcPts val="600"/>
              </a:spcAft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Esercizi 1-4 su networkatlas.eu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886450" y="2521297"/>
            <a:ext cx="27980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 9 - Degree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886450" y="2686943"/>
            <a:ext cx="2798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Esercizi 1-3 su networkatlas.eu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715000" y="3067943"/>
            <a:ext cx="3048000" cy="767655"/>
          </a:xfrm>
          <a:prstGeom prst="roundRect">
            <a:avLst>
              <a:gd name="adj" fmla="val 9926"/>
            </a:avLst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48350" y="3201293"/>
            <a:ext cx="283692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LETTURA PER LEZIONE 2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5848350" y="3397448"/>
            <a:ext cx="283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 26-27: Bipartite Projections, Backboning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848350" y="3568898"/>
            <a:ext cx="283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Cap. 35-36: Communities, Evaluation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 delle Reti Sociali - Rappresentazioni e Proprieta di Base</dc:title>
  <dc:subject>Master OSINT, AI &amp; Security Studies - LUISS 2025/26</dc:subject>
  <dc:creator>Prof. Fabio Giglietto</dc:creator>
  <cp:lastModifiedBy>Prof. Fabio Giglietto</cp:lastModifiedBy>
  <cp:revision>1</cp:revision>
  <dcterms:created xsi:type="dcterms:W3CDTF">2026-01-09T07:01:51Z</dcterms:created>
  <dcterms:modified xsi:type="dcterms:W3CDTF">2026-01-09T07:01:51Z</dcterms:modified>
</cp:coreProperties>
</file>