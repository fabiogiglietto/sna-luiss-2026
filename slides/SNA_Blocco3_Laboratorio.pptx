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30946" y="933599"/>
            <a:ext cx="4481959" cy="312390"/>
          </a:xfrm>
          <a:prstGeom prst="roundRect">
            <a:avLst>
              <a:gd name="adj" fmla="val 6098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80437" y="1009799"/>
            <a:ext cx="41829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OSINT, AI E SECURITY STUDIES - LUISS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458120" y="1626989"/>
            <a:ext cx="422776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delle Reti Sociali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925071" y="2411760"/>
            <a:ext cx="32938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Laboratorio: Storm of Swords Network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91000" y="3135660"/>
            <a:ext cx="762000" cy="28575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70855" y="3621435"/>
            <a:ext cx="12021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Fabio Giglietto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74948" y="4036665"/>
            <a:ext cx="19939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Gennaio 2026 - Blocco 3 (90 min)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730282" y="4772025"/>
            <a:ext cx="11505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R/igraph + ggraph + Gephi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Dataset: Storm of Swords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558379"/>
            <a:ext cx="5476875" cy="817066"/>
          </a:xfrm>
          <a:prstGeom prst="roundRect">
            <a:avLst>
              <a:gd name="adj" fmla="val 932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558379"/>
            <a:ext cx="0" cy="81706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1691729"/>
            <a:ext cx="52755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 di co-occorrenza tra personaggi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1922115"/>
            <a:ext cx="52755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Personaggi di "A Storm of Swords" (Game of Thrones, libro 3). Un arco esiste se due personaggi appaiono insieme.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489746"/>
            <a:ext cx="1762125" cy="733276"/>
          </a:xfrm>
          <a:prstGeom prst="roundRect">
            <a:avLst>
              <a:gd name="adj" fmla="val 7794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9965" y="2604046"/>
            <a:ext cx="15641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9965" y="2962126"/>
            <a:ext cx="15641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Personaggi (nodi)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238375" y="2489746"/>
            <a:ext cx="1762125" cy="733276"/>
          </a:xfrm>
          <a:prstGeom prst="roundRect">
            <a:avLst>
              <a:gd name="adj" fmla="val 7794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37340" y="2604046"/>
            <a:ext cx="15641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767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37340" y="2962126"/>
            <a:ext cx="15641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Interazioni (archi)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095750" y="2489746"/>
            <a:ext cx="1762125" cy="733276"/>
          </a:xfrm>
          <a:prstGeom prst="roundRect">
            <a:avLst>
              <a:gd name="adj" fmla="val 7794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4715" y="2604046"/>
            <a:ext cx="15641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B4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94715" y="2962126"/>
            <a:ext cx="15641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Densita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81000" y="3337322"/>
            <a:ext cx="5476875" cy="1047750"/>
          </a:xfrm>
          <a:prstGeom prst="roundRect">
            <a:avLst>
              <a:gd name="adj" fmla="val 545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300" y="3451622"/>
            <a:ext cx="5353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CSV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5300" y="3642122"/>
            <a:ext cx="535324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Source,Target,Weight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Aemon,Samwell,31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Arya,Sandor,46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Jaime,Brienne,88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096000" y="2199829"/>
            <a:ext cx="2667000" cy="953393"/>
          </a:xfrm>
          <a:prstGeom prst="roundRect">
            <a:avLst>
              <a:gd name="adj" fmla="val 799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29350" y="2333179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PERCHE QUESTO DATASET?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229350" y="2548384"/>
            <a:ext cx="24483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Struttura sociale riconoscibile: famiglie (Stark, Lannister), fazioni (Night Watch, Daenerys). Ideale per imparare centralita e community.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096000" y="3267521"/>
            <a:ext cx="2667000" cy="47625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00775" y="3372296"/>
            <a:ext cx="250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Domanda: Chi e il personaggio piu centrale? Tyrion, Jon, o Daenerys?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28650"/>
          </a:xfrm>
          <a:prstGeom prst="roundRect">
            <a:avLst>
              <a:gd name="adj" fmla="val 9091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IGRAPH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e Import dei Dati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558528"/>
            <a:ext cx="4095750" cy="1146572"/>
          </a:xfrm>
          <a:prstGeom prst="roundRect">
            <a:avLst>
              <a:gd name="adj" fmla="val 498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691878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CARICA I PACCHETTI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1901428"/>
            <a:ext cx="3905631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library(igraph)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library(readr)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library(ggraph)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library(ggpubr)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800350"/>
            <a:ext cx="4095750" cy="811411"/>
          </a:xfrm>
          <a:prstGeom prst="roundRect">
            <a:avLst>
              <a:gd name="adj" fmla="val 704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933700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IMPORTA IL CSV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4350" y="3143250"/>
            <a:ext cx="390563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 = read_csv("stormofswords.csv")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3707011"/>
            <a:ext cx="4095750" cy="811411"/>
          </a:xfrm>
          <a:prstGeom prst="roundRect">
            <a:avLst>
              <a:gd name="adj" fmla="val 704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3840361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CREA IL GRAFO IGRAPH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4350" y="4049911"/>
            <a:ext cx="390563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graph.data.frame(d = edges,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directed = FALSE)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67250" y="1800374"/>
            <a:ext cx="4095750" cy="978991"/>
          </a:xfrm>
          <a:prstGeom prst="roundRect">
            <a:avLst>
              <a:gd name="adj" fmla="val 58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1933724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VERIFICA I DATI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00600" y="2143274"/>
            <a:ext cx="3905631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vcount(g) # 107 nodi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ecount(g) # 352 archi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graph.density(g) # 0.062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67250" y="2874615"/>
            <a:ext cx="4095750" cy="811411"/>
          </a:xfrm>
          <a:prstGeom prst="roundRect">
            <a:avLst>
              <a:gd name="adj" fmla="val 704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0600" y="3007965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VERIFICA COMPONENTI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00600" y="3217515"/>
            <a:ext cx="390563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components(g)$no # 1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Rete connessa!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67250" y="3781276"/>
            <a:ext cx="4095750" cy="495300"/>
          </a:xfrm>
          <a:prstGeom prst="roundRect">
            <a:avLst>
              <a:gd name="adj" fmla="val 11538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81550" y="3895576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graph.data.frame() converte un data frame di archi in un oggetto igraph. directed=FALSE per rete non diretta.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28650"/>
          </a:xfrm>
          <a:prstGeom prst="roundRect">
            <a:avLst>
              <a:gd name="adj" fmla="val 9091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GGRAPH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 Visualizzazione della Rete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549003"/>
            <a:ext cx="5334000" cy="978991"/>
          </a:xfrm>
          <a:prstGeom prst="roundRect">
            <a:avLst>
              <a:gd name="adj" fmla="val 58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682353"/>
            <a:ext cx="5168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VISUALIZZAZIONE BASE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1891903"/>
            <a:ext cx="5168646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ggraph(g) +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geom_edge_link() +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geom_node_point(size = 5)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642295"/>
            <a:ext cx="5334000" cy="1314152"/>
          </a:xfrm>
          <a:prstGeom prst="roundRect">
            <a:avLst>
              <a:gd name="adj" fmla="val 434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775645"/>
            <a:ext cx="5168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ETICHETTE NODI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4350" y="2985195"/>
            <a:ext cx="5168646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ggraph(g, layout = "nicely") +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geom_edge_link(color = "gray") +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geom_node_label(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aes(label = name),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 = 2, repel = TRUE)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4070747"/>
            <a:ext cx="5334000" cy="457200"/>
          </a:xfrm>
          <a:prstGeom prst="roundRect">
            <a:avLst>
              <a:gd name="adj" fmla="val 12500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4165997"/>
            <a:ext cx="5246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ggraph usa la grammatica di ggplot2: geom_edge_* per archi, geom_node_* per nodi. Layout automatico con "stress" o "nicely".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05500" y="2064990"/>
            <a:ext cx="2857500" cy="1203871"/>
          </a:xfrm>
          <a:prstGeom prst="roundRect">
            <a:avLst>
              <a:gd name="adj" fmla="val 6330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24550" y="2064990"/>
            <a:ext cx="0" cy="1203871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6950" y="2198340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disponibili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076950" y="2421136"/>
            <a:ext cx="260375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"stress" - default, bilanciato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"nicely" - ottimizzato automatico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"fr" - Fruchterman-Reingold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"kk" - Kamada-Kawai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"circle" - disposizione circolare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05500" y="3364111"/>
            <a:ext cx="2857500" cy="647700"/>
          </a:xfrm>
          <a:prstGeom prst="roundRect">
            <a:avLst>
              <a:gd name="adj" fmla="val 8824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10275" y="3468886"/>
            <a:ext cx="2700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10275" y="3640336"/>
            <a:ext cx="2700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diversi layout. Quale mostra meglio la struttura della rete?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28650"/>
          </a:xfrm>
          <a:prstGeom prst="roundRect">
            <a:avLst>
              <a:gd name="adj" fmla="val 9091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IGRAPH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Accedere a Nodi e Archi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676698"/>
            <a:ext cx="4095750" cy="1314152"/>
          </a:xfrm>
          <a:prstGeom prst="roundRect">
            <a:avLst>
              <a:gd name="adj" fmla="val 434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810048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SELEZIONARE NODI V()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2019598"/>
            <a:ext cx="3905631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Nodo per nome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V(g)[V(g)$name == "Bran"]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Nodi con degree &gt; 10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V(g)[V(g)$deg &gt; 10]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3086100"/>
            <a:ext cx="4095750" cy="1314152"/>
          </a:xfrm>
          <a:prstGeom prst="roundRect">
            <a:avLst>
              <a:gd name="adj" fmla="val 434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3219450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SELEZIONARE ARCHI E()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4350" y="3429000"/>
            <a:ext cx="3905631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Archi con peso &gt; 20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E(g)[Weight &gt; 20]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Arco con peso massimo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E(g)[Weight == max(E(g)$Weight)]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667250" y="1774627"/>
            <a:ext cx="4095750" cy="1314152"/>
          </a:xfrm>
          <a:prstGeom prst="roundRect">
            <a:avLst>
              <a:gd name="adj" fmla="val 434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0600" y="1907977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AGGIUNGERE ATTRIBUTI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00600" y="2117527"/>
            <a:ext cx="3905631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Nuovo attributo per i nodi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V(g)$deg = degree(g)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Accedi all'attributo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V(g)$deg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67250" y="3184029"/>
            <a:ext cx="4095750" cy="699046"/>
          </a:xfrm>
          <a:prstGeom prst="roundRect">
            <a:avLst>
              <a:gd name="adj" fmla="val 8175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86300" y="3184029"/>
            <a:ext cx="0" cy="69904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9650" y="329832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esempio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819650" y="3502075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E(g)[Weight == max(Weight)]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Jaime -- Brienne (Weight: 88)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67250" y="3978325"/>
            <a:ext cx="4095750" cy="323850"/>
          </a:xfrm>
          <a:prstGeom prst="roundRect">
            <a:avLst>
              <a:gd name="adj" fmla="val 17647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62500" y="4073575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V(g) e E(g) sono "vertex sequence" e "edge sequence": oggetti filtrabili come vettori R.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28650"/>
          </a:xfrm>
          <a:prstGeom prst="roundRect">
            <a:avLst>
              <a:gd name="adj" fmla="val 9091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Degree: Quante Connessioni?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550938"/>
            <a:ext cx="5143500" cy="1314152"/>
          </a:xfrm>
          <a:prstGeom prst="roundRect">
            <a:avLst>
              <a:gd name="adj" fmla="val 434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684288"/>
            <a:ext cx="49743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CALCOLO DEGREE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1893838"/>
            <a:ext cx="4974336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Tutti i nodi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degree(g)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Singolo personaggio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degree(g, v = "Arya")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960340"/>
            <a:ext cx="5143500" cy="1146572"/>
          </a:xfrm>
          <a:prstGeom prst="roundRect">
            <a:avLst>
              <a:gd name="adj" fmla="val 498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3093690"/>
            <a:ext cx="49743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 COME ATTRIBUTO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4350" y="3303240"/>
            <a:ext cx="4974336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V(g)$deg = degree(g)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Chi ha piu di 10 connessioni?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V(g)[V(g)$deg &gt; 10]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4202162"/>
            <a:ext cx="5143500" cy="323850"/>
          </a:xfrm>
          <a:prstGeom prst="roundRect">
            <a:avLst>
              <a:gd name="adj" fmla="val 17647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4297412"/>
            <a:ext cx="50520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= numero di archi connessi. Per reti dirette: mode="in", mode="out", mode="all".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715000" y="2055763"/>
            <a:ext cx="3048000" cy="1393924"/>
          </a:xfrm>
          <a:prstGeom prst="roundRect">
            <a:avLst>
              <a:gd name="adj" fmla="val 546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734050" y="2055763"/>
            <a:ext cx="0" cy="1393924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86450" y="2189113"/>
            <a:ext cx="2798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per Degree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886450" y="2430959"/>
            <a:ext cx="4080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Tyrion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8512969" y="2430959"/>
            <a:ext cx="119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886450" y="2615654"/>
            <a:ext cx="2911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Jon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8512969" y="2615654"/>
            <a:ext cx="119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886450" y="2800350"/>
            <a:ext cx="4218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Sansa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8512969" y="2800350"/>
            <a:ext cx="119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886450" y="2985046"/>
            <a:ext cx="403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Jaime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8512969" y="2985046"/>
            <a:ext cx="119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886450" y="3169741"/>
            <a:ext cx="3743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Robb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8512969" y="3169741"/>
            <a:ext cx="119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715000" y="3544937"/>
            <a:ext cx="3048000" cy="47625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19775" y="3649712"/>
            <a:ext cx="2895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Tyrion e il personaggio con piu connessioni - coerente con il suo ruolo di "mediatore" tra fazioni.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28650"/>
          </a:xfrm>
          <a:prstGeom prst="roundRect">
            <a:avLst>
              <a:gd name="adj" fmla="val 9091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Betweenness, Closeness, Eigenvector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2305050"/>
            <a:ext cx="2692450" cy="1466850"/>
          </a:xfrm>
          <a:prstGeom prst="roundRect">
            <a:avLst>
              <a:gd name="adj" fmla="val 519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438400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2667000"/>
            <a:ext cx="24742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V(g)$bet = betweenness(g)</a:t>
            </a:r>
            <a:endParaRPr lang="en-US" sz="750" dirty="0"/>
          </a:p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V(g)[which.max(V(g)$bet)]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14350" y="3048000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 shortest path passano per questo nodo? Identifica i broker.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4350" y="3390900"/>
            <a:ext cx="2425750" cy="247650"/>
          </a:xfrm>
          <a:prstGeom prst="roundRect">
            <a:avLst>
              <a:gd name="adj" fmla="val 15385"/>
            </a:avLst>
          </a:prstGeom>
          <a:solidFill>
            <a:srgbClr val="ED893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3448050"/>
            <a:ext cx="23576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Jon (1280)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25850" y="2305050"/>
            <a:ext cx="2692450" cy="1466850"/>
          </a:xfrm>
          <a:prstGeom prst="roundRect">
            <a:avLst>
              <a:gd name="adj" fmla="val 519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59200" y="2438400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CLOSENESS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59200" y="2667000"/>
            <a:ext cx="24742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V(g)$clos = closeness(g)</a:t>
            </a:r>
            <a:endParaRPr lang="en-US" sz="750" dirty="0"/>
          </a:p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V(g)[which.max(V(g)$clos)]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59200" y="3048000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velocemente raggiungo tutti gli altri? Misura efficienza.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59200" y="3390900"/>
            <a:ext cx="2425750" cy="247650"/>
          </a:xfrm>
          <a:prstGeom prst="roundRect">
            <a:avLst>
              <a:gd name="adj" fmla="val 15385"/>
            </a:avLst>
          </a:prstGeom>
          <a:solidFill>
            <a:srgbClr val="ED893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16350" y="3448050"/>
            <a:ext cx="23576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Tyrion (0.43)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70699" y="2305050"/>
            <a:ext cx="2692450" cy="1466850"/>
          </a:xfrm>
          <a:prstGeom prst="roundRect">
            <a:avLst>
              <a:gd name="adj" fmla="val 519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04049" y="2438400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EIGENVECTOR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204049" y="2667000"/>
            <a:ext cx="24742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V(g)$eigen =</a:t>
            </a:r>
            <a:endParaRPr lang="en-US" sz="750" dirty="0"/>
          </a:p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eigen_centrality(g)$vector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04049" y="3048000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Connesso a nodi importanti? Influenza ricorsiva (come PageRank).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04049" y="3390900"/>
            <a:ext cx="2425750" cy="247650"/>
          </a:xfrm>
          <a:prstGeom prst="roundRect">
            <a:avLst>
              <a:gd name="adj" fmla="val 15385"/>
            </a:avLst>
          </a:prstGeom>
          <a:solidFill>
            <a:srgbClr val="ED893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61199" y="3448050"/>
            <a:ext cx="23576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Tyrion (1.0)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28650"/>
          </a:xfrm>
          <a:prstGeom prst="roundRect">
            <a:avLst>
              <a:gd name="adj" fmla="val 9091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Creare un DataFrame di Centralita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752600"/>
            <a:ext cx="4953000" cy="1543050"/>
          </a:xfrm>
          <a:prstGeom prst="roundRect">
            <a:avLst>
              <a:gd name="adj" fmla="val 370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885950"/>
            <a:ext cx="4780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DATAFRAME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2095500"/>
            <a:ext cx="478002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centrality_df = data.frame(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actor = V(g)$name,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degree = V(g)$deg,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betweenness = V(g)$bet,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closeness = V(g)$clos,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eigenvector = V(g)$eigen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3390900"/>
            <a:ext cx="4953000" cy="933450"/>
          </a:xfrm>
          <a:prstGeom prst="roundRect">
            <a:avLst>
              <a:gd name="adj" fmla="val 612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3524250"/>
            <a:ext cx="4780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CORRELAZIONE TRA METRICHE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4350" y="3733800"/>
            <a:ext cx="4780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library(corrplot)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cor_matrix = cor(centrality_df[,-1])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corrplot(cor_matrix, method="number")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524500" y="2069753"/>
            <a:ext cx="3238500" cy="1365796"/>
          </a:xfrm>
          <a:prstGeom prst="roundRect">
            <a:avLst>
              <a:gd name="adj" fmla="val 5579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57850" y="2203103"/>
            <a:ext cx="3031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di Correlazione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524500" y="3530798"/>
            <a:ext cx="3238500" cy="47625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29275" y="3635573"/>
            <a:ext cx="30895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ed eigenvector sono molto correlati (0.91). Betweenness e piu indipendente - cattura un aspetto diverso!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28650"/>
          </a:xfrm>
          <a:prstGeom prst="roundRect">
            <a:avLst>
              <a:gd name="adj" fmla="val 9091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VISUALIZZAZIONE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Mappare Centralita su Nodi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447800"/>
            <a:ext cx="5524500" cy="1543050"/>
          </a:xfrm>
          <a:prstGeom prst="roundRect">
            <a:avLst>
              <a:gd name="adj" fmla="val 370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581150"/>
            <a:ext cx="536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= DEGREE, COLOR = BETWEENNESS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1790700"/>
            <a:ext cx="536295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ggraph(g, layout = "nicely") +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geom_edge_link(color = "gray",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alpha = 0.5) +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geom_node_point(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aes(size = deg, color = bet)) +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scale_color_viridis_c() +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theme_graph()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3086100"/>
            <a:ext cx="5524500" cy="1543050"/>
          </a:xfrm>
          <a:prstGeom prst="roundRect">
            <a:avLst>
              <a:gd name="adj" fmla="val 370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3219450"/>
            <a:ext cx="536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ETICHETTE PER TOP NODES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4350" y="3429000"/>
            <a:ext cx="536295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ggraph(g, layout = "nicely") +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geom_edge_link(color = "gray") +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geom_node_point(aes(size = deg)) +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geom_node_text(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aes(label = ifelse(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deg &gt; 15, name, "")),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repel = TRUE, size = 3)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96000" y="1813173"/>
            <a:ext cx="2667000" cy="1060996"/>
          </a:xfrm>
          <a:prstGeom prst="roundRect">
            <a:avLst>
              <a:gd name="adj" fmla="val 718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15050" y="1813173"/>
            <a:ext cx="0" cy="106099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7450" y="1946523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visuale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267450" y="2169319"/>
            <a:ext cx="24094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dimensione nodo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colore nodo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trasparenza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forma nodo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96000" y="2969419"/>
            <a:ext cx="2667000" cy="875258"/>
          </a:xfrm>
          <a:prstGeom prst="roundRect">
            <a:avLst>
              <a:gd name="adj" fmla="val 870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15050" y="2969419"/>
            <a:ext cx="0" cy="875258"/>
          </a:xfrm>
          <a:prstGeom prst="line">
            <a:avLst/>
          </a:prstGeom>
          <a:noFill/>
          <a:ln w="38100">
            <a:solidFill>
              <a:srgbClr val="805A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7450" y="3102769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colore utili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267450" y="3325564"/>
            <a:ext cx="2409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scale_color_viridis_c()</a:t>
            </a:r>
            <a:endParaRPr lang="en-US" sz="675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scale_color_gradient(</a:t>
            </a:r>
            <a:endParaRPr lang="en-US" sz="675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low="blue", high="red")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6096000" y="3939927"/>
            <a:ext cx="2667000" cy="323850"/>
          </a:xfrm>
          <a:prstGeom prst="roundRect">
            <a:avLst>
              <a:gd name="adj" fmla="val 17647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1250" y="4035177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theme_graph() rimuove assi e sfondo per un look pulito.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28650"/>
          </a:xfrm>
          <a:prstGeom prst="roundRect">
            <a:avLst>
              <a:gd name="adj" fmla="val 9091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R a Gephi: Export GraphML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676549"/>
            <a:ext cx="5143500" cy="1481733"/>
          </a:xfrm>
          <a:prstGeom prst="roundRect">
            <a:avLst>
              <a:gd name="adj" fmla="val 385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809899"/>
            <a:ext cx="49743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ESPORTA CON ATTRIBUTI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2019449"/>
            <a:ext cx="4974336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Gli attributi sono gia salvati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V(g)$deg, V(g)$bet, etc.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write.graph(g,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"stormofswords.graphml",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format = "graphml")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3253532"/>
            <a:ext cx="5143500" cy="1146721"/>
          </a:xfrm>
          <a:prstGeom prst="roundRect">
            <a:avLst>
              <a:gd name="adj" fmla="val 4984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253532"/>
            <a:ext cx="0" cy="1146721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3367832"/>
            <a:ext cx="49743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Gephi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33400" y="3571577"/>
            <a:ext cx="497433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File, Open, seleziona .graphml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 Appearance, Nodes, Size, Ranking: deg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 Appearance, Nodes, Color, Ranking: bet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 Layout: ForceAtlas2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5. Preview, Export PNG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715000" y="2031653"/>
            <a:ext cx="3048000" cy="1441996"/>
          </a:xfrm>
          <a:prstGeom prst="roundRect">
            <a:avLst>
              <a:gd name="adj" fmla="val 5284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48350" y="2165003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completo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848350" y="240684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17109" y="2435423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15050" y="2435423"/>
            <a:ext cx="1103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import CSV, crea grafo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48350" y="265449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17109" y="2683073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15050" y="2683073"/>
            <a:ext cx="826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calcola metriche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48350" y="290214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17109" y="2930723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15050" y="2930723"/>
            <a:ext cx="8262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export GraphML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848350" y="314979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17109" y="3178373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15050" y="3178373"/>
            <a:ext cx="966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Gephi: visualizzazione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15000" y="3568898"/>
            <a:ext cx="3048000" cy="47625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19775" y="3673673"/>
            <a:ext cx="2895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 preserva tutti gli attributi dei nodi. In Gephi li trovi in Data Laboratory.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Esercizio: Analizza la Rete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649016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DA COMPLETARE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980456"/>
            <a:ext cx="5143500" cy="337096"/>
          </a:xfrm>
          <a:prstGeom prst="roundRect">
            <a:avLst>
              <a:gd name="adj" fmla="val 11302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075706"/>
            <a:ext cx="50520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Importa stormofswords.csv e crea il grafo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469952"/>
            <a:ext cx="5143500" cy="337096"/>
          </a:xfrm>
          <a:prstGeom prst="roundRect">
            <a:avLst>
              <a:gd name="adj" fmla="val 11302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2565202"/>
            <a:ext cx="50520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Calcola degree, betweenness, closeness, eigenvector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959447"/>
            <a:ext cx="5143500" cy="337096"/>
          </a:xfrm>
          <a:prstGeom prst="roundRect">
            <a:avLst>
              <a:gd name="adj" fmla="val 11302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3054697"/>
            <a:ext cx="50520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Trova il personaggio con betweenness massima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3448943"/>
            <a:ext cx="5143500" cy="337096"/>
          </a:xfrm>
          <a:prstGeom prst="roundRect">
            <a:avLst>
              <a:gd name="adj" fmla="val 11302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3544193"/>
            <a:ext cx="50520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Trova l arco con peso massimo (chi interagisce di piu?)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938439"/>
            <a:ext cx="5143500" cy="356146"/>
          </a:xfrm>
          <a:prstGeom prst="roundRect">
            <a:avLst>
              <a:gd name="adj" fmla="val 10698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775" y="4043214"/>
            <a:ext cx="50326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Crea una visualizzazione con size=degree e color=betweenness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0" y="1916609"/>
            <a:ext cx="3048000" cy="1367284"/>
          </a:xfrm>
          <a:prstGeom prst="roundRect">
            <a:avLst>
              <a:gd name="adj" fmla="val 557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48350" y="2049959"/>
            <a:ext cx="2836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 DI ANALISI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848350" y="2265164"/>
            <a:ext cx="283692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 ha betweenness massima ma non degree massimo. Perche?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848350" y="2634555"/>
            <a:ext cx="283692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Quale "mondo narrativo" collega Jon? (Night Watch - Wildlings - Stark)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848350" y="3003947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Jaime-Brienne hanno peso 88. Cosa significa per la storia?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715000" y="3398193"/>
            <a:ext cx="3048000" cy="62865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29300" y="3512493"/>
            <a:ext cx="2875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 stormofswords.csv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Tempo: 20 minuti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Output: script R + grafico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Riepilogo e Prossimi Passi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833711"/>
            <a:ext cx="50520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LEZIONE 1 - OGGI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2151757"/>
            <a:ext cx="4953000" cy="337096"/>
          </a:xfrm>
          <a:prstGeom prst="roundRect">
            <a:avLst>
              <a:gd name="adj" fmla="val 16954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2151757"/>
            <a:ext cx="0" cy="33709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2247007"/>
            <a:ext cx="48188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Blocco 1: Grafi, nodi, archi, rappresentazioni, density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603153"/>
            <a:ext cx="4953000" cy="337096"/>
          </a:xfrm>
          <a:prstGeom prst="roundRect">
            <a:avLst>
              <a:gd name="adj" fmla="val 16954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603153"/>
            <a:ext cx="0" cy="33709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2698403"/>
            <a:ext cx="48188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Blocco 2: Centralita (degree, betweenness, closeness, eigenvector)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3054548"/>
            <a:ext cx="4953000" cy="337096"/>
          </a:xfrm>
          <a:prstGeom prst="roundRect">
            <a:avLst>
              <a:gd name="adj" fmla="val 16954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054548"/>
            <a:ext cx="0" cy="33709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350" y="3149798"/>
            <a:ext cx="48188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Blocco 3: R/igraph, ggraph, export Gephi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563094"/>
            <a:ext cx="4953000" cy="546646"/>
          </a:xfrm>
          <a:prstGeom prst="roundRect">
            <a:avLst>
              <a:gd name="adj" fmla="val 10455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300" y="3677394"/>
            <a:ext cx="48188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Risorse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95300" y="3862090"/>
            <a:ext cx="48188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networkatlas.eu (Coscia, 2025) | igraph.org/r | gephi.org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24500" y="1811834"/>
            <a:ext cx="3238500" cy="1266379"/>
          </a:xfrm>
          <a:prstGeom prst="roundRect">
            <a:avLst>
              <a:gd name="adj" fmla="val 6017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543550" y="1811834"/>
            <a:ext cx="0" cy="1266379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95950" y="1945184"/>
            <a:ext cx="29923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LEZIONE 2 - ONLINE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695950" y="2187029"/>
            <a:ext cx="29923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Twitter: reti di retweet e hashtag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695950" y="2390775"/>
            <a:ext cx="29923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detection: cluster_edge_betweenness, Louvain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695950" y="2594521"/>
            <a:ext cx="29923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 bipartite e proiezioni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695950" y="2798266"/>
            <a:ext cx="29923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Applicazioni OSINT avanzate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524500" y="3192512"/>
            <a:ext cx="3238500" cy="939105"/>
          </a:xfrm>
          <a:prstGeom prst="roundRect">
            <a:avLst>
              <a:gd name="adj" fmla="val 811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57850" y="3325862"/>
            <a:ext cx="30312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DELLA LEZIONE 2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657850" y="3522018"/>
            <a:ext cx="30312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l esercizio su stormofswords.csv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57850" y="3693468"/>
            <a:ext cx="30312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 Gephi (gephi.org)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657850" y="3864918"/>
            <a:ext cx="30312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Rivedi Cap. 13-15 di networkatlas.eu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delle Reti Sociali - Laboratorio</dc:title>
  <dc:subject>Master OSINT, AI &amp; Security Studies - LUISS 2025/26</dc:subject>
  <dc:creator>Prof. Fabio Giglietto</dc:creator>
  <cp:lastModifiedBy>Prof. Fabio Giglietto</cp:lastModifiedBy>
  <cp:revision>1</cp:revision>
  <dcterms:created xsi:type="dcterms:W3CDTF">2026-01-09T07:48:14Z</dcterms:created>
  <dcterms:modified xsi:type="dcterms:W3CDTF">2026-01-09T07:48:14Z</dcterms:modified>
</cp:coreProperties>
</file>