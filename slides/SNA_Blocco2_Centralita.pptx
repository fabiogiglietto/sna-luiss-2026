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ED893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330946" y="933599"/>
            <a:ext cx="4481959" cy="312390"/>
          </a:xfrm>
          <a:prstGeom prst="roundRect">
            <a:avLst>
              <a:gd name="adj" fmla="val 60981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480437" y="1009799"/>
            <a:ext cx="418297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OSINT, AI E SECURITY STUDIES - LUISS 2025/26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458120" y="1626989"/>
            <a:ext cx="4227761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spcAft>
                <a:spcPts val="1200"/>
              </a:spcAft>
              <a:buNone/>
            </a:pPr>
            <a:r>
              <a:rPr lang="en-US" sz="3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Analisi delle Reti Sociali</a:t>
            </a:r>
            <a:endParaRPr lang="en-US" sz="3150" dirty="0"/>
          </a:p>
        </p:txBody>
      </p:sp>
      <p:sp>
        <p:nvSpPr>
          <p:cNvPr id="6" name="Text 4"/>
          <p:cNvSpPr/>
          <p:nvPr/>
        </p:nvSpPr>
        <p:spPr>
          <a:xfrm>
            <a:off x="3151565" y="2411760"/>
            <a:ext cx="284072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2400"/>
              </a:spcAft>
              <a:buNone/>
            </a:pPr>
            <a:r>
              <a:rPr lang="en-US" sz="15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Centralita: Chi Conta nella Rete?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91000" y="3135660"/>
            <a:ext cx="762000" cy="28575"/>
          </a:xfrm>
          <a:prstGeom prst="rect">
            <a:avLst/>
          </a:prstGeom>
          <a:solidFill>
            <a:srgbClr val="ED893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970855" y="3621435"/>
            <a:ext cx="120214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Fabio Giglietto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574948" y="4036665"/>
            <a:ext cx="199395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Bef>
                <a:spcPts val="600"/>
              </a:spcBef>
              <a:buNone/>
            </a:pPr>
            <a:r>
              <a:rPr lang="en-US" sz="975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Gennaio 2026 - Blocco 2 (75 min)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6361212" y="4772025"/>
            <a:ext cx="25469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Coscia (2025) - The Atlas for the Aspiring Network Scientist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52400"/>
            <a:ext cx="8382000" cy="495300"/>
          </a:xfrm>
          <a:prstGeom prst="roundRect">
            <a:avLst>
              <a:gd name="adj" fmla="val 11538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285750"/>
            <a:ext cx="40902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Obiettivi del Blocco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000" y="2295674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ED893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81012" y="2335709"/>
            <a:ext cx="6800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81050" y="2295674"/>
            <a:ext cx="537267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225"/>
              </a:spcAft>
              <a:buNone/>
            </a:pPr>
            <a:r>
              <a:rPr lang="en-US" sz="97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Comprendere i percorsi minimi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781050" y="2497485"/>
            <a:ext cx="53726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Shortest paths come base per le metriche di centralita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1000" y="2790825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ED893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1012" y="2830860"/>
            <a:ext cx="6800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81050" y="2790825"/>
            <a:ext cx="537267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225"/>
              </a:spcAft>
              <a:buNone/>
            </a:pPr>
            <a:r>
              <a:rPr lang="en-US" sz="97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Padroneggiare le metriche di centralita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781050" y="2992636"/>
            <a:ext cx="53726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Betweenness, Closeness, PageRank e loro interpretazione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1000" y="3285976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ED893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1012" y="3326011"/>
            <a:ext cx="6800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81050" y="3285976"/>
            <a:ext cx="537267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225"/>
              </a:spcAft>
              <a:buNone/>
            </a:pPr>
            <a:r>
              <a:rPr lang="en-US" sz="97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Applicare all OSINT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781050" y="3487787"/>
            <a:ext cx="53726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Identificare attori chiave in reti di disinformazione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286500" y="2142232"/>
            <a:ext cx="2476500" cy="1658987"/>
          </a:xfrm>
          <a:prstGeom prst="roundRect">
            <a:avLst>
              <a:gd name="adj" fmla="val 4593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305550" y="2142232"/>
            <a:ext cx="0" cy="1658987"/>
          </a:xfrm>
          <a:prstGeom prst="line">
            <a:avLst/>
          </a:prstGeom>
          <a:noFill/>
          <a:ln w="38100">
            <a:solidFill>
              <a:srgbClr val="1A36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77000" y="2294632"/>
            <a:ext cx="21762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75 MIN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77000" y="2568922"/>
            <a:ext cx="21762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IV - Centrality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77000" y="2747963"/>
            <a:ext cx="217627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Cap. 13-15 del manuale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6477000" y="2989808"/>
            <a:ext cx="21762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OSINT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77000" y="3168848"/>
            <a:ext cx="217627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VeraAI (207 reti)</a:t>
            </a:r>
            <a:endParaRPr lang="en-US" sz="825" dirty="0"/>
          </a:p>
        </p:txBody>
      </p:sp>
      <p:sp>
        <p:nvSpPr>
          <p:cNvPr id="23" name="Shape 21"/>
          <p:cNvSpPr/>
          <p:nvPr/>
        </p:nvSpPr>
        <p:spPr>
          <a:xfrm>
            <a:off x="6477000" y="3415457"/>
            <a:ext cx="2133600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77000" y="3515469"/>
            <a:ext cx="21762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networkatlas.eu/exercises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26268" y="1489770"/>
            <a:ext cx="29146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300"/>
              </a:lnSpc>
              <a:spcAft>
                <a:spcPts val="750"/>
              </a:spcAft>
              <a:buNone/>
            </a:pPr>
            <a:r>
              <a:rPr lang="en-US" sz="4500" b="1" dirty="0">
                <a:solidFill>
                  <a:srgbClr val="ED89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573616" y="2537520"/>
            <a:ext cx="7996767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spcAft>
                <a:spcPts val="15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Come identifichiamo gli attori chiave in una rete di disinformazione?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900238" y="3253680"/>
            <a:ext cx="53435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basta contare le connessioni. Serve capire chi controlla i flussi di informazione, chi fa da ponte tra gruppi, chi ha influenza ricorsiva.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52400"/>
            <a:ext cx="8382000" cy="495300"/>
          </a:xfrm>
          <a:prstGeom prst="roundRect">
            <a:avLst>
              <a:gd name="adj" fmla="val 11538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285750"/>
            <a:ext cx="40902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Shortest Paths (Percorsi Minimi)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000" y="1942356"/>
            <a:ext cx="5476875" cy="657076"/>
          </a:xfrm>
          <a:prstGeom prst="roundRect">
            <a:avLst>
              <a:gd name="adj" fmla="val 11597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0050" y="1942356"/>
            <a:ext cx="0" cy="657076"/>
          </a:xfrm>
          <a:prstGeom prst="line">
            <a:avLst/>
          </a:prstGeom>
          <a:noFill/>
          <a:ln w="38100">
            <a:solidFill>
              <a:srgbClr val="ED89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52450" y="2075706"/>
            <a:ext cx="527551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percorso piu breve tra due nodi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552450" y="2306092"/>
            <a:ext cx="527551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 un nodo sorgente v e un target u, trovare il cammino che attraversa il minor numero di archi.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1000" y="2713732"/>
            <a:ext cx="558641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ALGORITMI PRINCIPALI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381000" y="2936528"/>
            <a:ext cx="1774775" cy="499021"/>
          </a:xfrm>
          <a:prstGeom prst="roundRect">
            <a:avLst>
              <a:gd name="adj" fmla="val 11452"/>
            </a:avLst>
          </a:prstGeom>
          <a:solidFill>
            <a:srgbClr val="EBF8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76250" y="3031778"/>
            <a:ext cx="161596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225"/>
              </a:spcAft>
              <a:buNone/>
            </a:pPr>
            <a:r>
              <a:rPr lang="en-US" sz="825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BFS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476250" y="3206948"/>
            <a:ext cx="16159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Grafi non pesati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231975" y="2936528"/>
            <a:ext cx="1774775" cy="499021"/>
          </a:xfrm>
          <a:prstGeom prst="roundRect">
            <a:avLst>
              <a:gd name="adj" fmla="val 11452"/>
            </a:avLst>
          </a:prstGeom>
          <a:solidFill>
            <a:srgbClr val="FAF5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327225" y="3031778"/>
            <a:ext cx="161596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225"/>
              </a:spcAft>
              <a:buNone/>
            </a:pPr>
            <a:r>
              <a:rPr lang="en-US" sz="825" b="1" dirty="0">
                <a:solidFill>
                  <a:srgbClr val="6B4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Dijkstra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2327225" y="3206948"/>
            <a:ext cx="16159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Grafi pesati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082951" y="2936528"/>
            <a:ext cx="1774775" cy="499021"/>
          </a:xfrm>
          <a:prstGeom prst="roundRect">
            <a:avLst>
              <a:gd name="adj" fmla="val 11452"/>
            </a:avLst>
          </a:prstGeom>
          <a:solidFill>
            <a:srgbClr val="F0FF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178201" y="3031778"/>
            <a:ext cx="161596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225"/>
              </a:spcAft>
              <a:buNone/>
            </a:pPr>
            <a:r>
              <a:rPr lang="en-US" sz="825" b="1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Floyd-Warshall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4178201" y="3206948"/>
            <a:ext cx="16159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Tutte le coppie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95288" y="3549848"/>
            <a:ext cx="0" cy="451247"/>
          </a:xfrm>
          <a:prstGeom prst="line">
            <a:avLst/>
          </a:prstGeom>
          <a:noFill/>
          <a:ln w="28575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2925" y="3549848"/>
            <a:ext cx="5421249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i="1" dirty="0">
                <a:solidFill>
                  <a:srgbClr val="7180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"Sometimes, it does not matter how many connections you have, but how many people someone can reach by passing through you."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542925" y="3881140"/>
            <a:ext cx="542124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Coscia, Cap. 13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6096000" y="2133154"/>
            <a:ext cx="2667000" cy="953393"/>
          </a:xfrm>
          <a:prstGeom prst="roundRect">
            <a:avLst>
              <a:gd name="adj" fmla="val 7993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229350" y="2266504"/>
            <a:ext cx="244830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750"/>
              </a:spcAft>
              <a:buNone/>
            </a:pPr>
            <a:r>
              <a:rPr lang="en-US" sz="675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ESEMPIO: CONSEGNA LETTERA</a:t>
            </a:r>
            <a:endParaRPr lang="en-US" sz="675" dirty="0"/>
          </a:p>
        </p:txBody>
      </p:sp>
      <p:sp>
        <p:nvSpPr>
          <p:cNvPr id="23" name="Text 21"/>
          <p:cNvSpPr/>
          <p:nvPr/>
        </p:nvSpPr>
        <p:spPr>
          <a:xfrm>
            <a:off x="6229350" y="2481709"/>
            <a:ext cx="2448306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 far arrivare un messaggio a qualcuno che non conosci? Passando per il minor numero di intermediari.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6096000" y="3200846"/>
            <a:ext cx="2667000" cy="609600"/>
          </a:xfrm>
          <a:prstGeom prst="roundRect">
            <a:avLst>
              <a:gd name="adj" fmla="val 9375"/>
            </a:avLst>
          </a:prstGeom>
          <a:solidFill>
            <a:srgbClr val="FFFAF0"/>
          </a:solidFill>
          <a:ln w="9525">
            <a:solidFill>
              <a:srgbClr val="ED893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200775" y="3305621"/>
            <a:ext cx="250659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744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OSINT: Gli shortest paths ci dicono quanto velocemente una fake news puo propagarsi tra due account.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52400"/>
            <a:ext cx="8382000" cy="495300"/>
          </a:xfrm>
          <a:prstGeom prst="roundRect">
            <a:avLst>
              <a:gd name="adj" fmla="val 11538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285750"/>
            <a:ext cx="40902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Degree Centrality (Ripasso)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000" y="2045643"/>
            <a:ext cx="5286375" cy="657076"/>
          </a:xfrm>
          <a:prstGeom prst="roundRect">
            <a:avLst>
              <a:gd name="adj" fmla="val 11597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0050" y="2045643"/>
            <a:ext cx="0" cy="657076"/>
          </a:xfrm>
          <a:prstGeom prst="line">
            <a:avLst/>
          </a:prstGeom>
          <a:noFill/>
          <a:ln w="38100">
            <a:solidFill>
              <a:srgbClr val="ED89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52450" y="2178993"/>
            <a:ext cx="508120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misura piu diretta di importanza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552450" y="2409379"/>
            <a:ext cx="508120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Piu connessioni = piu importante. Ma e sempre vero?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1000" y="2817019"/>
            <a:ext cx="5286375" cy="605730"/>
          </a:xfrm>
          <a:prstGeom prst="roundRect">
            <a:avLst>
              <a:gd name="adj" fmla="val 9435"/>
            </a:avLst>
          </a:prstGeom>
          <a:solidFill>
            <a:srgbClr val="EDF2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44722" y="2931319"/>
            <a:ext cx="515893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C_D(v) = k(v) / (|V| - 1)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44722" y="3175099"/>
            <a:ext cx="515893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450"/>
              </a:spcBef>
              <a:buNone/>
            </a:pPr>
            <a:r>
              <a:rPr lang="en-US" sz="7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Degree normalizzato: proporzione di nodi raggiungibili direttamente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81000" y="3537049"/>
            <a:ext cx="539210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Limiti della Degree Centrality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381000" y="3740795"/>
            <a:ext cx="5392103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nodo con poche connessioni ma posizionato strategicamente puo essere piu importante di un hub periferico.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5905500" y="1811834"/>
            <a:ext cx="2857500" cy="807541"/>
          </a:xfrm>
          <a:prstGeom prst="roundRect">
            <a:avLst>
              <a:gd name="adj" fmla="val 9436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038850" y="1945184"/>
            <a:ext cx="26426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038850" y="2154734"/>
            <a:ext cx="264261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Semplice da calcolare O(|E|)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6038850" y="2339429"/>
            <a:ext cx="264261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Intuitivo da interpretare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5905500" y="2733675"/>
            <a:ext cx="2857500" cy="807541"/>
          </a:xfrm>
          <a:prstGeom prst="roundRect">
            <a:avLst>
              <a:gd name="adj" fmla="val 9436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038850" y="2867025"/>
            <a:ext cx="26426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038850" y="3076575"/>
            <a:ext cx="264261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Ignora la posizione nella rete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6038850" y="3261271"/>
            <a:ext cx="264261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considera connessioni indirette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5905500" y="3655516"/>
            <a:ext cx="2857500" cy="476250"/>
          </a:xfrm>
          <a:prstGeom prst="roundRect">
            <a:avLst>
              <a:gd name="adj" fmla="val 12000"/>
            </a:avLst>
          </a:prstGeom>
          <a:solidFill>
            <a:srgbClr val="FFFAF0"/>
          </a:solidFill>
          <a:ln w="9525">
            <a:solidFill>
              <a:srgbClr val="ED893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010275" y="3760291"/>
            <a:ext cx="270090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744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Servono metriche che catturino anche la posizione strutturale del nodo.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52400"/>
            <a:ext cx="8382000" cy="495300"/>
          </a:xfrm>
          <a:prstGeom prst="roundRect">
            <a:avLst>
              <a:gd name="adj" fmla="val 11538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285750"/>
            <a:ext cx="40902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Betweenness Centrality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000" y="1842790"/>
            <a:ext cx="5476875" cy="657076"/>
          </a:xfrm>
          <a:prstGeom prst="roundRect">
            <a:avLst>
              <a:gd name="adj" fmla="val 11597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0050" y="1842790"/>
            <a:ext cx="0" cy="657076"/>
          </a:xfrm>
          <a:prstGeom prst="line">
            <a:avLst/>
          </a:prstGeom>
          <a:noFill/>
          <a:ln w="38100">
            <a:solidFill>
              <a:srgbClr val="ED89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52450" y="1976140"/>
            <a:ext cx="527551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 shortest paths passano attraverso di te?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552450" y="2206526"/>
            <a:ext cx="527551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Misura quanto un nodo fa da ponte tra altri nodi della rete.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1000" y="2614166"/>
            <a:ext cx="5476875" cy="592336"/>
          </a:xfrm>
          <a:prstGeom prst="roundRect">
            <a:avLst>
              <a:gd name="adj" fmla="val 9648"/>
            </a:avLst>
          </a:prstGeom>
          <a:solidFill>
            <a:srgbClr val="EDF2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42817" y="2728466"/>
            <a:ext cx="535324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C_B(v) = somma di sigma_st(v) / sigma_st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442817" y="2958852"/>
            <a:ext cx="53532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450"/>
              </a:spcBef>
              <a:buNone/>
            </a:pPr>
            <a:r>
              <a:rPr lang="en-US" sz="7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sigma_st = numero shortest paths tra s e t; sigma_st(v) = quelli che passano per v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81000" y="3320802"/>
            <a:ext cx="558641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Interpretazione OSINT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381000" y="3524548"/>
            <a:ext cx="5586413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con alta betweenness sono broker di informazione. Rimuoverli frammenterebbe la rete di disinformazione.</a:t>
            </a:r>
            <a:endParaRPr lang="en-US" sz="825" dirty="0"/>
          </a:p>
        </p:txBody>
      </p:sp>
      <p:sp>
        <p:nvSpPr>
          <p:cNvPr id="13" name="Shape 11"/>
          <p:cNvSpPr/>
          <p:nvPr/>
        </p:nvSpPr>
        <p:spPr>
          <a:xfrm>
            <a:off x="395288" y="3796010"/>
            <a:ext cx="0" cy="304651"/>
          </a:xfrm>
          <a:prstGeom prst="line">
            <a:avLst/>
          </a:prstGeom>
          <a:noFill/>
          <a:ln w="28575">
            <a:solidFill>
              <a:srgbClr val="CBD5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2925" y="3796010"/>
            <a:ext cx="542124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i="1" dirty="0">
                <a:solidFill>
                  <a:srgbClr val="7180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"Betweenness centrality estimates the influence a node has over the flow of information in a network."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542925" y="3980706"/>
            <a:ext cx="542124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Coscia, Cap. 14</a:t>
            </a:r>
            <a:endParaRPr lang="en-US" sz="675" dirty="0"/>
          </a:p>
        </p:txBody>
      </p:sp>
      <p:sp>
        <p:nvSpPr>
          <p:cNvPr id="16" name="Text 14"/>
          <p:cNvSpPr/>
          <p:nvPr/>
        </p:nvSpPr>
        <p:spPr>
          <a:xfrm>
            <a:off x="6096000" y="2135088"/>
            <a:ext cx="2667000" cy="953393"/>
          </a:xfrm>
          <a:prstGeom prst="roundRect">
            <a:avLst>
              <a:gd name="adj" fmla="val 7993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229350" y="2268438"/>
            <a:ext cx="244830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750"/>
              </a:spcAft>
              <a:buNone/>
            </a:pPr>
            <a:r>
              <a:rPr lang="en-US" sz="675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VISUALIZZAZIONE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6229350" y="2483644"/>
            <a:ext cx="2448306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Nodo al centro di una clessidra: connette due cluster altrimenti separati. Ha basso degree ma altissima betweenness.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6096000" y="3202781"/>
            <a:ext cx="2667000" cy="605730"/>
          </a:xfrm>
          <a:prstGeom prst="roundRect">
            <a:avLst>
              <a:gd name="adj" fmla="val 12580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229350" y="3336131"/>
            <a:ext cx="244830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600"/>
              </a:spcAft>
              <a:buNone/>
            </a:pPr>
            <a:r>
              <a:rPr lang="en-US" sz="675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R (IGRAPH)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6229350" y="3532287"/>
            <a:ext cx="244830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betweenness(g, normalized=TRUE)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52400"/>
            <a:ext cx="8382000" cy="495300"/>
          </a:xfrm>
          <a:prstGeom prst="roundRect">
            <a:avLst>
              <a:gd name="adj" fmla="val 11538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285750"/>
            <a:ext cx="40902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Closeness Centrality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000" y="1745159"/>
            <a:ext cx="5476875" cy="657076"/>
          </a:xfrm>
          <a:prstGeom prst="roundRect">
            <a:avLst>
              <a:gd name="adj" fmla="val 11597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0050" y="1745159"/>
            <a:ext cx="0" cy="657076"/>
          </a:xfrm>
          <a:prstGeom prst="line">
            <a:avLst/>
          </a:prstGeom>
          <a:noFill/>
          <a:ln w="38100">
            <a:solidFill>
              <a:srgbClr val="ED89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52450" y="1878509"/>
            <a:ext cx="527551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Quanto velocemente raggiungi tutti gli altri?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552450" y="2108895"/>
            <a:ext cx="527551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Inverso della distanza media dal nodo a tutti gli altri nodi.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1000" y="2516535"/>
            <a:ext cx="5476875" cy="592336"/>
          </a:xfrm>
          <a:prstGeom prst="roundRect">
            <a:avLst>
              <a:gd name="adj" fmla="val 9648"/>
            </a:avLst>
          </a:prstGeom>
          <a:solidFill>
            <a:srgbClr val="EDF2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42817" y="2630835"/>
            <a:ext cx="535324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C_C(v) = (|V| - 1) / somma d(v, u)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442817" y="2861221"/>
            <a:ext cx="53532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450"/>
              </a:spcBef>
              <a:buNone/>
            </a:pPr>
            <a:r>
              <a:rPr lang="en-US" sz="7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d(v, u) = lunghezza shortest path tra v e u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81000" y="3223171"/>
            <a:ext cx="558641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Interpretazione OSINT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381000" y="3426916"/>
            <a:ext cx="558641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con alta closeness possono diffondere rapidamente contenuti a tutta la rete. Sono i primi a ricevere e propagare informazioni.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381000" y="3855541"/>
            <a:ext cx="5476875" cy="342900"/>
          </a:xfrm>
          <a:prstGeom prst="roundRect">
            <a:avLst>
              <a:gd name="adj" fmla="val 16667"/>
            </a:avLst>
          </a:prstGeom>
          <a:solidFill>
            <a:srgbClr val="FFFAF0"/>
          </a:solidFill>
          <a:ln w="9525">
            <a:solidFill>
              <a:srgbClr val="ED893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5775" y="3960316"/>
            <a:ext cx="53726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744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Attenzione: Closeness ha problemi con reti disconnesse (distanza infinita). Usare harmonic closeness come alternativa.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096000" y="2135088"/>
            <a:ext cx="2667000" cy="953393"/>
          </a:xfrm>
          <a:prstGeom prst="roundRect">
            <a:avLst>
              <a:gd name="adj" fmla="val 7993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229350" y="2268438"/>
            <a:ext cx="244830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750"/>
              </a:spcAft>
              <a:buNone/>
            </a:pPr>
            <a:r>
              <a:rPr lang="en-US" sz="675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DIFFERENZA CON BETWEENNESS</a:t>
            </a:r>
            <a:endParaRPr lang="en-US" sz="675" dirty="0"/>
          </a:p>
        </p:txBody>
      </p:sp>
      <p:sp>
        <p:nvSpPr>
          <p:cNvPr id="17" name="Text 15"/>
          <p:cNvSpPr/>
          <p:nvPr/>
        </p:nvSpPr>
        <p:spPr>
          <a:xfrm>
            <a:off x="6229350" y="2483644"/>
            <a:ext cx="2448306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Betweenness: controllo sui flussi altrui. Closeness: efficienza nel raggiungere gli altri. Entrambi importanti ma diversi.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6096000" y="3202781"/>
            <a:ext cx="2667000" cy="605730"/>
          </a:xfrm>
          <a:prstGeom prst="roundRect">
            <a:avLst>
              <a:gd name="adj" fmla="val 12580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229350" y="3336131"/>
            <a:ext cx="244830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600"/>
              </a:spcAft>
              <a:buNone/>
            </a:pPr>
            <a:r>
              <a:rPr lang="en-US" sz="675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R (IGRAPH)</a:t>
            </a:r>
            <a:endParaRPr lang="en-US" sz="675" dirty="0"/>
          </a:p>
        </p:txBody>
      </p:sp>
      <p:sp>
        <p:nvSpPr>
          <p:cNvPr id="20" name="Text 18"/>
          <p:cNvSpPr/>
          <p:nvPr/>
        </p:nvSpPr>
        <p:spPr>
          <a:xfrm>
            <a:off x="6229350" y="3532287"/>
            <a:ext cx="244830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closeness(g, normalized=TRUE)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52400"/>
            <a:ext cx="8382000" cy="495300"/>
          </a:xfrm>
          <a:prstGeom prst="roundRect">
            <a:avLst>
              <a:gd name="adj" fmla="val 11538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285750"/>
            <a:ext cx="40902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PageRank (Eigenvector Centrality)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000" y="1764209"/>
            <a:ext cx="5476875" cy="657076"/>
          </a:xfrm>
          <a:prstGeom prst="roundRect">
            <a:avLst>
              <a:gd name="adj" fmla="val 11597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0050" y="1764209"/>
            <a:ext cx="0" cy="657076"/>
          </a:xfrm>
          <a:prstGeom prst="line">
            <a:avLst/>
          </a:prstGeom>
          <a:noFill/>
          <a:ln w="38100">
            <a:solidFill>
              <a:srgbClr val="ED89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52450" y="1897559"/>
            <a:ext cx="527551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 importante se ti puntano nodi importanti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552450" y="2127945"/>
            <a:ext cx="527551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Centralita ricorsiva: il tuo valore dipende dal valore di chi ti connette.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1000" y="2535585"/>
            <a:ext cx="5476875" cy="592336"/>
          </a:xfrm>
          <a:prstGeom prst="roundRect">
            <a:avLst>
              <a:gd name="adj" fmla="val 9648"/>
            </a:avLst>
          </a:prstGeom>
          <a:solidFill>
            <a:srgbClr val="EDF2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42817" y="2649885"/>
            <a:ext cx="535324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PR(v) = (1-d)/|V| + d * somma PR(u)/k_out(u)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442817" y="2880271"/>
            <a:ext cx="53532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450"/>
              </a:spcBef>
              <a:buNone/>
            </a:pPr>
            <a:r>
              <a:rPr lang="en-US" sz="7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= damping factor (tipicamente 0.85), k_out = out-degree di u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81000" y="3242221"/>
            <a:ext cx="558641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Interpretazione OSINT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381000" y="3445966"/>
            <a:ext cx="558641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account seguito da altri account influenti ha piu PageRank di uno seguito da account marginali. Cattura l influenza a cascata.</a:t>
            </a:r>
            <a:endParaRPr lang="en-US" sz="825" dirty="0"/>
          </a:p>
        </p:txBody>
      </p:sp>
      <p:sp>
        <p:nvSpPr>
          <p:cNvPr id="13" name="Shape 11"/>
          <p:cNvSpPr/>
          <p:nvPr/>
        </p:nvSpPr>
        <p:spPr>
          <a:xfrm>
            <a:off x="395288" y="3874591"/>
            <a:ext cx="0" cy="304651"/>
          </a:xfrm>
          <a:prstGeom prst="line">
            <a:avLst/>
          </a:prstGeom>
          <a:noFill/>
          <a:ln w="28575">
            <a:solidFill>
              <a:srgbClr val="CBD5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2925" y="3874591"/>
            <a:ext cx="542124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i="1" dirty="0">
                <a:solidFill>
                  <a:srgbClr val="7180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"PageRank models a random surfer navigating the web. The centrality is the probability of landing on a page."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542925" y="4059287"/>
            <a:ext cx="542124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Coscia, Cap. 14</a:t>
            </a:r>
            <a:endParaRPr lang="en-US" sz="675" dirty="0"/>
          </a:p>
        </p:txBody>
      </p:sp>
      <p:sp>
        <p:nvSpPr>
          <p:cNvPr id="16" name="Text 14"/>
          <p:cNvSpPr/>
          <p:nvPr/>
        </p:nvSpPr>
        <p:spPr>
          <a:xfrm>
            <a:off x="6096000" y="2213670"/>
            <a:ext cx="2667000" cy="796230"/>
          </a:xfrm>
          <a:prstGeom prst="roundRect">
            <a:avLst>
              <a:gd name="adj" fmla="val 9570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229350" y="2347020"/>
            <a:ext cx="244830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750"/>
              </a:spcAft>
              <a:buNone/>
            </a:pPr>
            <a:r>
              <a:rPr lang="en-US" sz="675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WALK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6229350" y="2562225"/>
            <a:ext cx="244830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PageRank = probabilita di trovarsi su un nodo dopo infinite passeggiate casuali nella rete.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6096000" y="3124200"/>
            <a:ext cx="2667000" cy="605730"/>
          </a:xfrm>
          <a:prstGeom prst="roundRect">
            <a:avLst>
              <a:gd name="adj" fmla="val 12580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229350" y="3257550"/>
            <a:ext cx="244830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600"/>
              </a:spcAft>
              <a:buNone/>
            </a:pPr>
            <a:r>
              <a:rPr lang="en-US" sz="675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R (IGRAPH)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6229350" y="3453705"/>
            <a:ext cx="244830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page_rank(g, damping=0.85)$vector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52400"/>
            <a:ext cx="8382000" cy="495300"/>
          </a:xfrm>
          <a:prstGeom prst="roundRect">
            <a:avLst>
              <a:gd name="adj" fmla="val 11538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285750"/>
            <a:ext cx="40902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Confronto tra Metriche di Centralita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000" y="2338536"/>
            <a:ext cx="1981200" cy="1266527"/>
          </a:xfrm>
          <a:prstGeom prst="roundRect">
            <a:avLst>
              <a:gd name="adj" fmla="val 6016"/>
            </a:avLst>
          </a:prstGeom>
          <a:solidFill>
            <a:srgbClr val="EBF8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81000" y="2357586"/>
            <a:ext cx="1981200" cy="0"/>
          </a:xfrm>
          <a:prstGeom prst="line">
            <a:avLst/>
          </a:prstGeom>
          <a:noFill/>
          <a:ln w="38100">
            <a:solidFill>
              <a:srgbClr val="3182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4350" y="2509986"/>
            <a:ext cx="174879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Degree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514350" y="2759422"/>
            <a:ext cx="174879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Misura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514350" y="2944118"/>
            <a:ext cx="17487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Numero connessioni dirette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14350" y="3153668"/>
            <a:ext cx="174879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OSINT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514350" y="3338364"/>
            <a:ext cx="17487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piu attivi/seguiti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514600" y="2338536"/>
            <a:ext cx="1981200" cy="1266527"/>
          </a:xfrm>
          <a:prstGeom prst="roundRect">
            <a:avLst>
              <a:gd name="adj" fmla="val 6016"/>
            </a:avLst>
          </a:prstGeom>
          <a:solidFill>
            <a:srgbClr val="FAF5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2514600" y="2357586"/>
            <a:ext cx="1981200" cy="0"/>
          </a:xfrm>
          <a:prstGeom prst="line">
            <a:avLst/>
          </a:prstGeom>
          <a:noFill/>
          <a:ln w="38100">
            <a:solidFill>
              <a:srgbClr val="805A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47950" y="2509986"/>
            <a:ext cx="174879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6B4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Betweenness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2647950" y="2759422"/>
            <a:ext cx="174879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6B4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Misura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2647950" y="2944118"/>
            <a:ext cx="17487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Controllo sui flussi informativi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647950" y="3153668"/>
            <a:ext cx="174879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6B4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OSINT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2647950" y="3338364"/>
            <a:ext cx="17487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Broker tra comunita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648200" y="2338536"/>
            <a:ext cx="1981200" cy="1266527"/>
          </a:xfrm>
          <a:prstGeom prst="roundRect">
            <a:avLst>
              <a:gd name="adj" fmla="val 6016"/>
            </a:avLst>
          </a:prstGeom>
          <a:solidFill>
            <a:srgbClr val="F0FF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648200" y="2357586"/>
            <a:ext cx="1981200" cy="0"/>
          </a:xfrm>
          <a:prstGeom prst="line">
            <a:avLst/>
          </a:prstGeom>
          <a:noFill/>
          <a:ln w="38100">
            <a:solidFill>
              <a:srgbClr val="38A1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81550" y="2509986"/>
            <a:ext cx="174879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Closeness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4781550" y="2759422"/>
            <a:ext cx="174879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Misura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4781550" y="2944118"/>
            <a:ext cx="17487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Velocita di diffusione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781550" y="3153668"/>
            <a:ext cx="174879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OSINT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4781550" y="3338364"/>
            <a:ext cx="17487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spreader di contenuti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781800" y="2338536"/>
            <a:ext cx="1981200" cy="1266527"/>
          </a:xfrm>
          <a:prstGeom prst="roundRect">
            <a:avLst>
              <a:gd name="adj" fmla="val 6016"/>
            </a:avLst>
          </a:prstGeom>
          <a:solidFill>
            <a:srgbClr val="FFFA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6781800" y="2357586"/>
            <a:ext cx="1981200" cy="0"/>
          </a:xfrm>
          <a:prstGeom prst="line">
            <a:avLst/>
          </a:prstGeom>
          <a:noFill/>
          <a:ln w="38100">
            <a:solidFill>
              <a:srgbClr val="ED893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15150" y="2509986"/>
            <a:ext cx="174879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C05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PageRank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6915150" y="2759422"/>
            <a:ext cx="174879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C05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Misura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6915150" y="2944118"/>
            <a:ext cx="17487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Influenza ricorsiva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915150" y="3153668"/>
            <a:ext cx="174879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C05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OSINT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6915150" y="3338364"/>
            <a:ext cx="17487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Nodi con endorsement di qualita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52400"/>
            <a:ext cx="8382000" cy="495300"/>
          </a:xfrm>
          <a:prstGeom prst="roundRect">
            <a:avLst>
              <a:gd name="adj" fmla="val 11538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285750"/>
            <a:ext cx="40902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Node Roles: Ruoli Strutturali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000" y="1906042"/>
            <a:ext cx="5476875" cy="657076"/>
          </a:xfrm>
          <a:prstGeom prst="roundRect">
            <a:avLst>
              <a:gd name="adj" fmla="val 11597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0050" y="1906042"/>
            <a:ext cx="0" cy="657076"/>
          </a:xfrm>
          <a:prstGeom prst="line">
            <a:avLst/>
          </a:prstGeom>
          <a:noFill/>
          <a:ln w="38100">
            <a:solidFill>
              <a:srgbClr val="ED89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52450" y="2039392"/>
            <a:ext cx="527551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Combinare metriche per identificare ruoli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552450" y="2269778"/>
            <a:ext cx="527551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nodo non e solo un numero. La combinazione di centralita diverse rivela il suo ruolo nella rete.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1000" y="2677418"/>
            <a:ext cx="2690813" cy="622846"/>
          </a:xfrm>
          <a:prstGeom prst="roundRect">
            <a:avLst>
              <a:gd name="adj" fmla="val 9176"/>
            </a:avLst>
          </a:prstGeom>
          <a:solidFill>
            <a:srgbClr val="E6FF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76250" y="2772668"/>
            <a:ext cx="255031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234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476250" y="2957364"/>
            <a:ext cx="255031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85E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 degree, alto PageRank. Centro di attivita ma non necessariamente broker.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167063" y="2677418"/>
            <a:ext cx="2690813" cy="622846"/>
          </a:xfrm>
          <a:prstGeom prst="roundRect">
            <a:avLst>
              <a:gd name="adj" fmla="val 9176"/>
            </a:avLst>
          </a:prstGeom>
          <a:solidFill>
            <a:srgbClr val="FAF5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262313" y="2772668"/>
            <a:ext cx="255031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553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Broker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3262313" y="2957364"/>
            <a:ext cx="255031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553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 betweenness, degree medio. Fa da ponte tra comunita.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81000" y="3414564"/>
            <a:ext cx="2690813" cy="622846"/>
          </a:xfrm>
          <a:prstGeom prst="roundRect">
            <a:avLst>
              <a:gd name="adj" fmla="val 9176"/>
            </a:avLst>
          </a:prstGeom>
          <a:solidFill>
            <a:srgbClr val="FFFA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76250" y="3509814"/>
            <a:ext cx="255031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744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Spreader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476250" y="3694509"/>
            <a:ext cx="255031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744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 closeness, alto out-degree. Diffonde rapidamente contenuti.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167063" y="3476476"/>
            <a:ext cx="2690813" cy="499021"/>
          </a:xfrm>
          <a:prstGeom prst="roundRect">
            <a:avLst>
              <a:gd name="adj" fmla="val 11452"/>
            </a:avLst>
          </a:prstGeom>
          <a:solidFill>
            <a:srgbClr val="EBF8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262313" y="3571726"/>
            <a:ext cx="255031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Periferico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3262313" y="3756422"/>
            <a:ext cx="255031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Basse centralita. Ai margini della rete, poco influente.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096000" y="2073176"/>
            <a:ext cx="2667000" cy="953393"/>
          </a:xfrm>
          <a:prstGeom prst="roundRect">
            <a:avLst>
              <a:gd name="adj" fmla="val 7993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229350" y="2206526"/>
            <a:ext cx="244830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750"/>
              </a:spcAft>
              <a:buNone/>
            </a:pPr>
            <a:r>
              <a:rPr lang="en-US" sz="675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APPLICAZIONE OSINT</a:t>
            </a:r>
            <a:endParaRPr lang="en-US" sz="675" dirty="0"/>
          </a:p>
        </p:txBody>
      </p:sp>
      <p:sp>
        <p:nvSpPr>
          <p:cNvPr id="22" name="Text 20"/>
          <p:cNvSpPr/>
          <p:nvPr/>
        </p:nvSpPr>
        <p:spPr>
          <a:xfrm>
            <a:off x="6229350" y="2421731"/>
            <a:ext cx="2448306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Nelle reti CIB (Coordinated Inauthentic Behavior), i broker sono spesso account gestiti centralmente che coordinano diversi cluster.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6096000" y="3140869"/>
            <a:ext cx="2667000" cy="729555"/>
          </a:xfrm>
          <a:prstGeom prst="roundRect">
            <a:avLst>
              <a:gd name="adj" fmla="val 10445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229350" y="3274219"/>
            <a:ext cx="244830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600"/>
              </a:spcAft>
              <a:buNone/>
            </a:pPr>
            <a:r>
              <a:rPr lang="en-US" sz="675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VERAAI</a:t>
            </a:r>
            <a:endParaRPr lang="en-US" sz="675" dirty="0"/>
          </a:p>
        </p:txBody>
      </p:sp>
      <p:sp>
        <p:nvSpPr>
          <p:cNvPr id="25" name="Text 23"/>
          <p:cNvSpPr/>
          <p:nvPr/>
        </p:nvSpPr>
        <p:spPr>
          <a:xfrm>
            <a:off x="6229350" y="3470374"/>
            <a:ext cx="244830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207 reti coordinate: i broker avevano betweenness 10x superiore alla media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52400"/>
            <a:ext cx="8382000" cy="628650"/>
          </a:xfrm>
          <a:prstGeom prst="roundRect">
            <a:avLst>
              <a:gd name="adj" fmla="val 9091"/>
            </a:avLst>
          </a:prstGeom>
          <a:solidFill>
            <a:srgbClr val="ED893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285750"/>
            <a:ext cx="81610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150"/>
              </a:spcAft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APPLICATIVO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71500" y="438150"/>
            <a:ext cx="409022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Identificare Attori Chiave in Reti CIB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381000" y="1779389"/>
            <a:ext cx="524637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per identificare gli account chiave in una rete di Coordinated Inauthentic Behavior: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81000" y="2034629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63451" y="2068860"/>
            <a:ext cx="649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04850" y="2034629"/>
            <a:ext cx="4819650" cy="489496"/>
          </a:xfrm>
          <a:prstGeom prst="roundRect">
            <a:avLst>
              <a:gd name="adj" fmla="val 11675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00100" y="2129879"/>
            <a:ext cx="47217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150"/>
              </a:spcAft>
              <a:buNone/>
            </a:pPr>
            <a:r>
              <a:rPr lang="en-US" sz="82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Calcola tutte le centralita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800100" y="2295525"/>
            <a:ext cx="47217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Degree, betweenness, closeness, PageRank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81000" y="2619375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63451" y="2653605"/>
            <a:ext cx="649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04850" y="2619375"/>
            <a:ext cx="4819650" cy="489496"/>
          </a:xfrm>
          <a:prstGeom prst="roundRect">
            <a:avLst>
              <a:gd name="adj" fmla="val 11675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00100" y="2714625"/>
            <a:ext cx="47217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150"/>
              </a:spcAft>
              <a:buNone/>
            </a:pPr>
            <a:r>
              <a:rPr lang="en-US" sz="82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 outlier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800100" y="2880271"/>
            <a:ext cx="47217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Nodi con valori anomali in una o piu metriche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81000" y="3204121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63451" y="3238351"/>
            <a:ext cx="649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04850" y="3204121"/>
            <a:ext cx="4819650" cy="489496"/>
          </a:xfrm>
          <a:prstGeom prst="roundRect">
            <a:avLst>
              <a:gd name="adj" fmla="val 11675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00100" y="3299371"/>
            <a:ext cx="47217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150"/>
              </a:spcAft>
              <a:buNone/>
            </a:pPr>
            <a:r>
              <a:rPr lang="en-US" sz="82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 per ruolo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800100" y="3465016"/>
            <a:ext cx="47217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Hub, broker, spreader in base al profilo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81000" y="3788866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ED893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63451" y="3823097"/>
            <a:ext cx="649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04850" y="3788866"/>
            <a:ext cx="4819650" cy="508546"/>
          </a:xfrm>
          <a:prstGeom prst="roundRect">
            <a:avLst>
              <a:gd name="adj" fmla="val 11238"/>
            </a:avLst>
          </a:prstGeom>
          <a:solidFill>
            <a:srgbClr val="FFFAF0"/>
          </a:solidFill>
          <a:ln w="9525">
            <a:solidFill>
              <a:srgbClr val="ED893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809625" y="3893641"/>
            <a:ext cx="470230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150"/>
              </a:spcAft>
              <a:buNone/>
            </a:pPr>
            <a:r>
              <a:rPr lang="en-US" sz="825" b="1" dirty="0">
                <a:solidFill>
                  <a:srgbClr val="744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 manualmente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809625" y="4059287"/>
            <a:ext cx="470230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744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 contenuti, date creazione, pattern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715000" y="1825079"/>
            <a:ext cx="3048000" cy="2426643"/>
          </a:xfrm>
          <a:prstGeom prst="roundRect">
            <a:avLst>
              <a:gd name="adj" fmla="val 3140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867400" y="1977479"/>
            <a:ext cx="279806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900"/>
              </a:spcAft>
              <a:buNone/>
            </a:pPr>
            <a:r>
              <a:rPr lang="en-US" sz="675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TIPICO</a:t>
            </a:r>
            <a:endParaRPr lang="en-US" sz="675" dirty="0"/>
          </a:p>
        </p:txBody>
      </p:sp>
      <p:sp>
        <p:nvSpPr>
          <p:cNvPr id="28" name="Text 26"/>
          <p:cNvSpPr/>
          <p:nvPr/>
        </p:nvSpPr>
        <p:spPr>
          <a:xfrm>
            <a:off x="5867400" y="2211735"/>
            <a:ext cx="2743200" cy="565696"/>
          </a:xfrm>
          <a:prstGeom prst="roundRect">
            <a:avLst>
              <a:gd name="adj" fmla="val 10103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981700" y="2326035"/>
            <a:ext cx="256489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per Betweenness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5981700" y="2529780"/>
            <a:ext cx="25648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Broker potenziali da investigare prioritariamente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867400" y="2872680"/>
            <a:ext cx="2743200" cy="565696"/>
          </a:xfrm>
          <a:prstGeom prst="roundRect">
            <a:avLst>
              <a:gd name="adj" fmla="val 10103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981700" y="2986980"/>
            <a:ext cx="256489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 degree + basso PageRank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5981700" y="3190726"/>
            <a:ext cx="25648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Possibili bot: molte connessioni ma di bassa qualita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5867400" y="3533626"/>
            <a:ext cx="2743200" cy="565696"/>
          </a:xfrm>
          <a:prstGeom prst="roundRect">
            <a:avLst>
              <a:gd name="adj" fmla="val 10103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981700" y="3647926"/>
            <a:ext cx="256489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 PageRank + medio degree</a:t>
            </a:r>
            <a:endParaRPr lang="en-US" sz="825" dirty="0"/>
          </a:p>
        </p:txBody>
      </p:sp>
      <p:sp>
        <p:nvSpPr>
          <p:cNvPr id="36" name="Text 34"/>
          <p:cNvSpPr/>
          <p:nvPr/>
        </p:nvSpPr>
        <p:spPr>
          <a:xfrm>
            <a:off x="5981700" y="3851672"/>
            <a:ext cx="25648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Influencer genuini o account strategici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52400"/>
            <a:ext cx="8382000" cy="495300"/>
          </a:xfrm>
          <a:prstGeom prst="roundRect">
            <a:avLst>
              <a:gd name="adj" fmla="val 11538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285750"/>
            <a:ext cx="40902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Riepilogo e Prossimi Passi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000" y="1686371"/>
            <a:ext cx="524637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CONCETTI CHIAVE DI OGGI</a:t>
            </a:r>
            <a:endParaRPr lang="en-US" sz="825" dirty="0"/>
          </a:p>
        </p:txBody>
      </p:sp>
      <p:sp>
        <p:nvSpPr>
          <p:cNvPr id="5" name="Text 3"/>
          <p:cNvSpPr/>
          <p:nvPr/>
        </p:nvSpPr>
        <p:spPr>
          <a:xfrm>
            <a:off x="381000" y="1985367"/>
            <a:ext cx="524637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Shortest paths come base per le metriche di centralita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81000" y="2263378"/>
            <a:ext cx="524637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Degree centrality: connessioni dirette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81000" y="2541389"/>
            <a:ext cx="524637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Betweenness: controllo sui flussi informativi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1000" y="2819400"/>
            <a:ext cx="524637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Closeness: velocita di diffusione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81000" y="3097411"/>
            <a:ext cx="524637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PageRank: influenza ricorsiva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1000" y="3375422"/>
            <a:ext cx="524637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roles: combinare metriche per identificare ruoli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1000" y="3710583"/>
            <a:ext cx="5143500" cy="546646"/>
          </a:xfrm>
          <a:prstGeom prst="roundRect">
            <a:avLst>
              <a:gd name="adj" fmla="val 10455"/>
            </a:avLst>
          </a:prstGeom>
          <a:solidFill>
            <a:srgbClr val="EDF2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95300" y="3824883"/>
            <a:ext cx="501319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Prossimo Blocco (17:00)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495300" y="4009579"/>
            <a:ext cx="50131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Laboratorio: costruire e analizzare una rete in Gephi e R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715000" y="1946077"/>
            <a:ext cx="3048000" cy="1169491"/>
          </a:xfrm>
          <a:prstGeom prst="roundRect">
            <a:avLst>
              <a:gd name="adj" fmla="val 6516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734050" y="1946077"/>
            <a:ext cx="0" cy="1169491"/>
          </a:xfrm>
          <a:prstGeom prst="line">
            <a:avLst/>
          </a:prstGeom>
          <a:noFill/>
          <a:ln w="38100">
            <a:solidFill>
              <a:srgbClr val="ED893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86450" y="2079427"/>
            <a:ext cx="27980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ESERCIZI CONSIGLIATI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886450" y="2308027"/>
            <a:ext cx="279806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Cap. 13 - Shortest Paths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5886450" y="2473672"/>
            <a:ext cx="27980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en-US" sz="7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Esercizi 1-3 su networkatlas.eu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886450" y="2683222"/>
            <a:ext cx="279806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Cap. 14 - Node Ranking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5886450" y="2848868"/>
            <a:ext cx="27980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Esercizi 1-4 su networkatlas.eu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715000" y="3229868"/>
            <a:ext cx="3048000" cy="767655"/>
          </a:xfrm>
          <a:prstGeom prst="roundRect">
            <a:avLst>
              <a:gd name="adj" fmla="val 9926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848350" y="3363218"/>
            <a:ext cx="283692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600"/>
              </a:spcAft>
              <a:buNone/>
            </a:pPr>
            <a:r>
              <a:rPr lang="en-US" sz="675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PREPARARE PER IL LAB</a:t>
            </a:r>
            <a:endParaRPr lang="en-US" sz="675" dirty="0"/>
          </a:p>
        </p:txBody>
      </p:sp>
      <p:sp>
        <p:nvSpPr>
          <p:cNvPr id="23" name="Text 21"/>
          <p:cNvSpPr/>
          <p:nvPr/>
        </p:nvSpPr>
        <p:spPr>
          <a:xfrm>
            <a:off x="5848350" y="3559373"/>
            <a:ext cx="283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Installare Gephi (gephi.org)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848350" y="3730823"/>
            <a:ext cx="283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Verificare pacchetto igraph in R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Analisi delle Reti Sociali - Centralita</dc:title>
  <dc:subject>Master OSINT, AI &amp; Security Studies - LUISS 2025/26</dc:subject>
  <dc:creator>Prof. Fabio Giglietto</dc:creator>
  <cp:lastModifiedBy>Prof. Fabio Giglietto</cp:lastModifiedBy>
  <cp:revision>1</cp:revision>
  <dcterms:created xsi:type="dcterms:W3CDTF">2026-01-09T07:18:34Z</dcterms:created>
  <dcterms:modified xsi:type="dcterms:W3CDTF">2026-01-09T07:18:34Z</dcterms:modified>
</cp:coreProperties>
</file>