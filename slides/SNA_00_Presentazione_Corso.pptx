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ED89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330946" y="768697"/>
            <a:ext cx="4481959" cy="312390"/>
          </a:xfrm>
          <a:prstGeom prst="roundRect">
            <a:avLst>
              <a:gd name="adj" fmla="val 60981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480437" y="844897"/>
            <a:ext cx="41829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OSINT, AI E SECURITY STUDIES - LUISS 2025/26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98973" y="1462088"/>
            <a:ext cx="174590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00"/>
              </a:lnSpc>
              <a:spcAft>
                <a:spcPts val="900"/>
              </a:spcAft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Modulo 6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965603" y="2147888"/>
            <a:ext cx="321279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ED89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Network Analysis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91000" y="3031778"/>
            <a:ext cx="762000" cy="28575"/>
          </a:xfrm>
          <a:prstGeom prst="rect">
            <a:avLst/>
          </a:prstGeom>
          <a:solidFill>
            <a:srgbClr val="ED89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077029" y="3517553"/>
            <a:ext cx="298979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Presentazione del Corso e Setup Strumenti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70855" y="4188023"/>
            <a:ext cx="120214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1800"/>
              </a:spcBef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Fabio Giglietto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495300"/>
          </a:xfrm>
          <a:prstGeom prst="roundRect">
            <a:avLst>
              <a:gd name="adj" fmla="val 11538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4090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Docente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617911"/>
            <a:ext cx="5429250" cy="963811"/>
          </a:xfrm>
          <a:prstGeom prst="roundRect">
            <a:avLst>
              <a:gd name="adj" fmla="val 7906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617911"/>
            <a:ext cx="0" cy="963811"/>
          </a:xfrm>
          <a:prstGeom prst="line">
            <a:avLst/>
          </a:prstGeom>
          <a:noFill/>
          <a:ln w="38100">
            <a:solidFill>
              <a:srgbClr val="ED89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1770311"/>
            <a:ext cx="518807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Prof. Fabio Giglietto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71500" y="2086421"/>
            <a:ext cx="518807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Professore Ordinario di Sociologia dei Processi Culturali e Comunicativi, Universita di Urbino Carlo Bo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715071"/>
            <a:ext cx="5429250" cy="817215"/>
          </a:xfrm>
          <a:prstGeom prst="roundRect">
            <a:avLst>
              <a:gd name="adj" fmla="val 9324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4350" y="2848421"/>
            <a:ext cx="526580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Aree di Ricerca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14350" y="3084612"/>
            <a:ext cx="526580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Disinformazione online, Coordinated Inauthentic Behavior (CIB), Social Media Analysis, Computational Social Science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81000" y="3665637"/>
            <a:ext cx="5429250" cy="660053"/>
          </a:xfrm>
          <a:prstGeom prst="roundRect">
            <a:avLst>
              <a:gd name="adj" fmla="val 11545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4350" y="3798987"/>
            <a:ext cx="526580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Progetti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14350" y="4035177"/>
            <a:ext cx="526580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VeraAI (Horizon Europe), MINE (MUR), coordinatore di oltre 207 analisi di reti di disinformazione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6096000" y="2181225"/>
            <a:ext cx="2667000" cy="1104751"/>
          </a:xfrm>
          <a:prstGeom prst="roundRect">
            <a:avLst>
              <a:gd name="adj" fmla="val 6897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48400" y="2333625"/>
            <a:ext cx="240944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900"/>
              </a:spcAft>
              <a:buNone/>
            </a:pPr>
            <a:r>
              <a:rPr lang="en-US" sz="675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CONTATTI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6248400" y="2567880"/>
            <a:ext cx="24094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fabio.giglietto@uniurb.it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6248400" y="2790676"/>
            <a:ext cx="24094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@fabiogiglietto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248400" y="3000226"/>
            <a:ext cx="24094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github.com/fabiogiglietto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096000" y="3400276"/>
            <a:ext cx="2667000" cy="361950"/>
          </a:xfrm>
          <a:prstGeom prst="roundRect">
            <a:avLst>
              <a:gd name="adj" fmla="val 15789"/>
            </a:avLst>
          </a:prstGeom>
          <a:solidFill>
            <a:srgbClr val="EBF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10300" y="3514576"/>
            <a:ext cx="24871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Ricevimento: su appuntamento via email.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495300"/>
          </a:xfrm>
          <a:prstGeom prst="roundRect">
            <a:avLst>
              <a:gd name="adj" fmla="val 11538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4090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Struttura del Modulo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824038"/>
            <a:ext cx="2952750" cy="2295376"/>
          </a:xfrm>
          <a:prstGeom prst="roundRect">
            <a:avLst>
              <a:gd name="adj" fmla="val 3320"/>
            </a:avLst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1843088"/>
            <a:ext cx="2952750" cy="0"/>
          </a:xfrm>
          <a:prstGeom prst="line">
            <a:avLst/>
          </a:prstGeom>
          <a:noFill/>
          <a:ln w="38100">
            <a:solidFill>
              <a:srgbClr val="38A1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3400" y="2014538"/>
            <a:ext cx="270090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LEZIONE 1 - IN PRESENZA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33400" y="2256383"/>
            <a:ext cx="27009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Gennaio 2026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3400" y="2538264"/>
            <a:ext cx="2647950" cy="438150"/>
          </a:xfrm>
          <a:prstGeom prst="roundRect">
            <a:avLst>
              <a:gd name="adj" fmla="val 8696"/>
            </a:avLst>
          </a:prstGeom>
          <a:solidFill>
            <a:srgbClr val="FFFFFF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600" y="2614464"/>
            <a:ext cx="25454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14:00-15:15 Blocco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09600" y="2766864"/>
            <a:ext cx="25454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Rappresentazioni e Proprieta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33400" y="3033564"/>
            <a:ext cx="2647950" cy="438150"/>
          </a:xfrm>
          <a:prstGeom prst="roundRect">
            <a:avLst>
              <a:gd name="adj" fmla="val 8696"/>
            </a:avLst>
          </a:prstGeom>
          <a:solidFill>
            <a:srgbClr val="FFFFFF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9600" y="3109764"/>
            <a:ext cx="25454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15:15-16:30 Blocco 2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09600" y="3262164"/>
            <a:ext cx="25454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Centralita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33400" y="3528864"/>
            <a:ext cx="2647950" cy="438150"/>
          </a:xfrm>
          <a:prstGeom prst="roundRect">
            <a:avLst>
              <a:gd name="adj" fmla="val 8696"/>
            </a:avLst>
          </a:prstGeom>
          <a:solidFill>
            <a:srgbClr val="FFFFFF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9600" y="3605064"/>
            <a:ext cx="25454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17:00-18:30 Blocco 3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09600" y="3757464"/>
            <a:ext cx="25454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 R e Gephi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524250" y="1881187"/>
            <a:ext cx="2952750" cy="2181076"/>
          </a:xfrm>
          <a:prstGeom prst="roundRect">
            <a:avLst>
              <a:gd name="adj" fmla="val 3494"/>
            </a:avLst>
          </a:prstGeom>
          <a:solidFill>
            <a:srgbClr val="EBF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524250" y="1900238"/>
            <a:ext cx="2952750" cy="0"/>
          </a:xfrm>
          <a:prstGeom prst="line">
            <a:avLst/>
          </a:prstGeom>
          <a:noFill/>
          <a:ln w="38100">
            <a:solidFill>
              <a:srgbClr val="3182C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76650" y="2071688"/>
            <a:ext cx="270090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LEZIONE 2 - ONLINE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3676650" y="2313533"/>
            <a:ext cx="27009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TBD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76650" y="2595414"/>
            <a:ext cx="2647950" cy="285750"/>
          </a:xfrm>
          <a:prstGeom prst="roundRect">
            <a:avLst>
              <a:gd name="adj" fmla="val 13333"/>
            </a:avLst>
          </a:prstGeom>
          <a:solidFill>
            <a:srgbClr val="FFFFFF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752850" y="2671614"/>
            <a:ext cx="25454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Dati Twitter e reti sociali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676650" y="2938314"/>
            <a:ext cx="2647950" cy="285750"/>
          </a:xfrm>
          <a:prstGeom prst="roundRect">
            <a:avLst>
              <a:gd name="adj" fmla="val 13333"/>
            </a:avLst>
          </a:prstGeom>
          <a:solidFill>
            <a:srgbClr val="FFFFFF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752850" y="3014514"/>
            <a:ext cx="25454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detection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676650" y="3281214"/>
            <a:ext cx="2647950" cy="285750"/>
          </a:xfrm>
          <a:prstGeom prst="roundRect">
            <a:avLst>
              <a:gd name="adj" fmla="val 13333"/>
            </a:avLst>
          </a:prstGeom>
          <a:solidFill>
            <a:srgbClr val="FFFFFF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752850" y="3357414"/>
            <a:ext cx="25454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 bipartite e proiezioni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676650" y="3624114"/>
            <a:ext cx="2647950" cy="285750"/>
          </a:xfrm>
          <a:prstGeom prst="roundRect">
            <a:avLst>
              <a:gd name="adj" fmla="val 13333"/>
            </a:avLst>
          </a:prstGeom>
          <a:solidFill>
            <a:srgbClr val="FFFFFF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752850" y="3700314"/>
            <a:ext cx="25454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Applicazioni OSINT avanzate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667500" y="2669828"/>
            <a:ext cx="2095500" cy="603796"/>
          </a:xfrm>
          <a:prstGeom prst="roundRect">
            <a:avLst>
              <a:gd name="adj" fmla="val 12620"/>
            </a:avLst>
          </a:prstGeom>
          <a:solidFill>
            <a:srgbClr val="FFFA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686550" y="2669828"/>
            <a:ext cx="0" cy="603796"/>
          </a:xfrm>
          <a:prstGeom prst="line">
            <a:avLst/>
          </a:prstGeom>
          <a:noFill/>
          <a:ln w="38100">
            <a:solidFill>
              <a:srgbClr val="ED893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38950" y="2803178"/>
            <a:ext cx="18265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C05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6838950" y="3006923"/>
            <a:ext cx="18265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Teoria + pratica hands-on su dati reali.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495300"/>
          </a:xfrm>
          <a:prstGeom prst="roundRect">
            <a:avLst>
              <a:gd name="adj" fmla="val 11538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4090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Perche SNA per l Intelligence?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930896"/>
            <a:ext cx="4953000" cy="630436"/>
          </a:xfrm>
          <a:prstGeom prst="roundRect">
            <a:avLst>
              <a:gd name="adj" fmla="val 1208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930896"/>
            <a:ext cx="0" cy="630436"/>
          </a:xfrm>
          <a:prstGeom prst="line">
            <a:avLst/>
          </a:prstGeom>
          <a:noFill/>
          <a:ln w="38100">
            <a:solidFill>
              <a:srgbClr val="ED89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2450" y="2064246"/>
            <a:ext cx="474116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Disinformazione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52450" y="2281386"/>
            <a:ext cx="47411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Identificare reti di account coordinati che diffondono fake news.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81000" y="2675632"/>
            <a:ext cx="4953000" cy="630436"/>
          </a:xfrm>
          <a:prstGeom prst="roundRect">
            <a:avLst>
              <a:gd name="adj" fmla="val 1208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0050" y="2675632"/>
            <a:ext cx="0" cy="630436"/>
          </a:xfrm>
          <a:prstGeom prst="line">
            <a:avLst/>
          </a:prstGeom>
          <a:noFill/>
          <a:ln w="38100">
            <a:solidFill>
              <a:srgbClr val="ED89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2450" y="2808982"/>
            <a:ext cx="474116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Cybercrime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2450" y="3026122"/>
            <a:ext cx="47411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Mappare infrastrutture criminali, forum underground, reti di riciclaggio.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81000" y="3420368"/>
            <a:ext cx="4953000" cy="630436"/>
          </a:xfrm>
          <a:prstGeom prst="roundRect">
            <a:avLst>
              <a:gd name="adj" fmla="val 1208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0050" y="3420368"/>
            <a:ext cx="0" cy="630436"/>
          </a:xfrm>
          <a:prstGeom prst="line">
            <a:avLst/>
          </a:prstGeom>
          <a:noFill/>
          <a:ln w="38100">
            <a:solidFill>
              <a:srgbClr val="ED89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2450" y="3553718"/>
            <a:ext cx="474116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Terrorismo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2450" y="3770858"/>
            <a:ext cx="47411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Ricostruire celle operative, identificare facilitatori e reclutatori.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5524500" y="2046982"/>
            <a:ext cx="3238500" cy="962025"/>
          </a:xfrm>
          <a:prstGeom prst="roundRect">
            <a:avLst>
              <a:gd name="adj" fmla="val 7921"/>
            </a:avLst>
          </a:prstGeom>
          <a:solidFill>
            <a:srgbClr val="ED8936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676900" y="2199382"/>
            <a:ext cx="29923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750"/>
              </a:spcAft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VANTAGGIO DELLE RETI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676900" y="2427982"/>
            <a:ext cx="299237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 importa solo chi sei, ma chi conosci e come sei connesso.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5524500" y="3123307"/>
            <a:ext cx="3238500" cy="811411"/>
          </a:xfrm>
          <a:prstGeom prst="roundRect">
            <a:avLst>
              <a:gd name="adj" fmla="val 9391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657850" y="3256657"/>
            <a:ext cx="30312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 permette di: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657850" y="3466207"/>
            <a:ext cx="303123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Trovare attori chiave (centralita), Scoprire comunita nascoste, Predire flussi informativi, Identificare vulnerabilita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495300"/>
          </a:xfrm>
          <a:prstGeom prst="roundRect">
            <a:avLst>
              <a:gd name="adj" fmla="val 11538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4090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Obiettivi di Apprendimento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886396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38A1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1012" y="1926431"/>
            <a:ext cx="680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62000" y="1886396"/>
            <a:ext cx="524637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Comprendere i fondamenti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762000" y="2097732"/>
            <a:ext cx="52463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Grafi, nodi, archi, rappresentazioni, proprieta strutturali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81000" y="2339578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38A1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1012" y="2379613"/>
            <a:ext cx="680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62000" y="2339578"/>
            <a:ext cx="524637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Padroneggiare le metriche di centralita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762000" y="2550914"/>
            <a:ext cx="52463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Degree, betweenness, closeness, eigenvector/PageRank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81000" y="279276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38A1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1012" y="2832795"/>
            <a:ext cx="680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62000" y="2792760"/>
            <a:ext cx="524637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Identificare comunita e strutture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762000" y="3004096"/>
            <a:ext cx="52463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detection, reti bipartite, proiezioni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381000" y="3245941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D89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1012" y="3285976"/>
            <a:ext cx="680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62000" y="3245941"/>
            <a:ext cx="524637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Usare gli strumenti professionali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762000" y="3457277"/>
            <a:ext cx="52463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R/igraph per analisi, Gephi per visualizzazione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381000" y="369912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D89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1012" y="3739158"/>
            <a:ext cx="680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62000" y="3699123"/>
            <a:ext cx="524637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Applicare SNA a casi OSINT reali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762000" y="3910459"/>
            <a:ext cx="52463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Disinformazione, CIB, analisi social media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6096000" y="2167384"/>
            <a:ext cx="2667000" cy="1608683"/>
          </a:xfrm>
          <a:prstGeom prst="roundRect">
            <a:avLst>
              <a:gd name="adj" fmla="val 4737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248400" y="2319784"/>
            <a:ext cx="24094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TERMINE DEL MODULO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6248400" y="2580680"/>
            <a:ext cx="240944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Sarete in grado di importare dati di rete, calcolare metriche, identificare attori chiave e produrre visualizzazioni professionali.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6248400" y="3166467"/>
            <a:ext cx="2362200" cy="457200"/>
          </a:xfrm>
          <a:prstGeom prst="roundRect">
            <a:avLst>
              <a:gd name="adj" fmla="val 8333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343650" y="3261717"/>
            <a:ext cx="22151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Competenza chiave: trasformare dati relazionali in intelligence actionable.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495300"/>
          </a:xfrm>
          <a:prstGeom prst="roundRect">
            <a:avLst>
              <a:gd name="adj" fmla="val 11538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4090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Materiali del Corso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586657"/>
            <a:ext cx="5334000" cy="1129308"/>
          </a:xfrm>
          <a:prstGeom prst="roundRect">
            <a:avLst>
              <a:gd name="adj" fmla="val 6747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586657"/>
            <a:ext cx="0" cy="1129308"/>
          </a:xfrm>
          <a:prstGeom prst="line">
            <a:avLst/>
          </a:prstGeom>
          <a:noFill/>
          <a:ln w="38100">
            <a:solidFill>
              <a:srgbClr val="3182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1739057"/>
            <a:ext cx="509092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Manuale di Riferimento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71500" y="1988493"/>
            <a:ext cx="509092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Atlas for the Aspiring Network Scientist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1500" y="2213223"/>
            <a:ext cx="50909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Michele Coscia, 2nd Edition, 2025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71500" y="2416969"/>
            <a:ext cx="50909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318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networkatlas.eu (open access)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81000" y="2830264"/>
            <a:ext cx="5334000" cy="711398"/>
          </a:xfrm>
          <a:prstGeom prst="roundRect">
            <a:avLst>
              <a:gd name="adj" fmla="val 10711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00050" y="2830264"/>
            <a:ext cx="0" cy="711398"/>
          </a:xfrm>
          <a:prstGeom prst="line">
            <a:avLst/>
          </a:prstGeom>
          <a:noFill/>
          <a:ln w="38100">
            <a:solidFill>
              <a:srgbClr val="38A1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" y="2982664"/>
            <a:ext cx="509092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di Laboratorio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571500" y="3232100"/>
            <a:ext cx="509092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stormofswords.csv - rete Game of Thrones, lezione2.RData - dati Twitter reali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81000" y="3655963"/>
            <a:ext cx="5334000" cy="700832"/>
          </a:xfrm>
          <a:prstGeom prst="roundRect">
            <a:avLst>
              <a:gd name="adj" fmla="val 10873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00050" y="3655963"/>
            <a:ext cx="0" cy="700832"/>
          </a:xfrm>
          <a:prstGeom prst="line">
            <a:avLst/>
          </a:prstGeom>
          <a:noFill/>
          <a:ln w="38100">
            <a:solidFill>
              <a:srgbClr val="805A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" y="3808363"/>
            <a:ext cx="509092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6B4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R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571500" y="4057799"/>
            <a:ext cx="50909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Codice commentato per ogni esercitazione.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5905500" y="2124521"/>
            <a:ext cx="2857500" cy="894308"/>
          </a:xfrm>
          <a:prstGeom prst="roundRect">
            <a:avLst>
              <a:gd name="adj" fmla="val 8521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057900" y="2276921"/>
            <a:ext cx="26037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750"/>
              </a:spcAft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CAPITOLI DA STUDIARE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057900" y="2505521"/>
            <a:ext cx="260375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Lezione 1: Part II (Cap. 4-7), Part IV (Cap. 13-15)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6057900" y="2719834"/>
            <a:ext cx="26037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Lezione 2: Part V (Cap. 16-19)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5905500" y="3133130"/>
            <a:ext cx="2857500" cy="685800"/>
          </a:xfrm>
          <a:prstGeom prst="roundRect">
            <a:avLst>
              <a:gd name="adj" fmla="val 8333"/>
            </a:avLst>
          </a:prstGeom>
          <a:solidFill>
            <a:srgbClr val="FFFAF0"/>
          </a:solidFill>
          <a:ln w="9525">
            <a:solidFill>
              <a:srgbClr val="ED89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29325" y="3256955"/>
            <a:ext cx="26620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Esercizi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029325" y="3428405"/>
            <a:ext cx="26620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Completate gli esercizi interattivi su networkatlas.eu prima della lezione!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647700"/>
          </a:xfrm>
          <a:prstGeom prst="roundRect">
            <a:avLst>
              <a:gd name="adj" fmla="val 8824"/>
            </a:avLst>
          </a:prstGeom>
          <a:solidFill>
            <a:srgbClr val="ED89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8161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71500" y="438150"/>
            <a:ext cx="4090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Gli Strumenti che Useremo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2289870"/>
            <a:ext cx="2692450" cy="1516112"/>
          </a:xfrm>
          <a:prstGeom prst="roundRect">
            <a:avLst>
              <a:gd name="adj" fmla="val 5026"/>
            </a:avLst>
          </a:prstGeom>
          <a:solidFill>
            <a:srgbClr val="EBF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81000" y="2308920"/>
            <a:ext cx="2692450" cy="0"/>
          </a:xfrm>
          <a:prstGeom prst="line">
            <a:avLst/>
          </a:prstGeom>
          <a:noFill/>
          <a:ln w="38100">
            <a:solidFill>
              <a:srgbClr val="3182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3400" y="2480370"/>
            <a:ext cx="243540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+ RStudio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3400" y="2788890"/>
            <a:ext cx="243540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Linguaggio e IDE per analisi statistica e di rete. Riproducibile, potente, open source.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33400" y="3196382"/>
            <a:ext cx="2387650" cy="457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9600" y="3272582"/>
            <a:ext cx="22799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Pacchetti chiave: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09600" y="3444032"/>
            <a:ext cx="22799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igraph, ggraph, tidyverse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225850" y="2289870"/>
            <a:ext cx="2692450" cy="1516112"/>
          </a:xfrm>
          <a:prstGeom prst="roundRect">
            <a:avLst>
              <a:gd name="adj" fmla="val 5026"/>
            </a:avLst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25850" y="2308920"/>
            <a:ext cx="2692450" cy="0"/>
          </a:xfrm>
          <a:prstGeom prst="line">
            <a:avLst/>
          </a:prstGeom>
          <a:noFill/>
          <a:ln w="38100">
            <a:solidFill>
              <a:srgbClr val="38A1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78250" y="2480370"/>
            <a:ext cx="243540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Gephi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78250" y="2788890"/>
            <a:ext cx="243540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di visualizzazione interattiva. Ideale per esplorare reti grandi e creare grafiche.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3378250" y="3196382"/>
            <a:ext cx="2387650" cy="457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54450" y="3272582"/>
            <a:ext cx="22799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Funzioni chiave: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454450" y="3444032"/>
            <a:ext cx="22799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Layout, filtri, statistiche, export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070699" y="2216646"/>
            <a:ext cx="2692450" cy="1662708"/>
          </a:xfrm>
          <a:prstGeom prst="roundRect">
            <a:avLst>
              <a:gd name="adj" fmla="val 4583"/>
            </a:avLst>
          </a:prstGeom>
          <a:solidFill>
            <a:srgbClr val="FAF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070699" y="2235696"/>
            <a:ext cx="2692450" cy="0"/>
          </a:xfrm>
          <a:prstGeom prst="line">
            <a:avLst/>
          </a:prstGeom>
          <a:noFill/>
          <a:ln w="38100">
            <a:solidFill>
              <a:srgbClr val="805A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23099" y="2407146"/>
            <a:ext cx="243540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6B4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23099" y="2715667"/>
            <a:ext cx="2435403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per calcoli e preprocessing, Gephi per visualizzazione. GraphML come formato di scambio.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6223099" y="3269754"/>
            <a:ext cx="2387650" cy="457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99299" y="3345954"/>
            <a:ext cx="22799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553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Pipeline: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299299" y="3517404"/>
            <a:ext cx="22799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CSV, R, GraphML, Gephi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647700"/>
          </a:xfrm>
          <a:prstGeom prst="roundRect">
            <a:avLst>
              <a:gd name="adj" fmla="val 8824"/>
            </a:avLst>
          </a:prstGeom>
          <a:solidFill>
            <a:srgbClr val="3182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8161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1/4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71500" y="438150"/>
            <a:ext cx="4090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Installare 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1942207"/>
            <a:ext cx="5286375" cy="662880"/>
          </a:xfrm>
          <a:prstGeom prst="roundRect">
            <a:avLst>
              <a:gd name="adj" fmla="val 11495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942207"/>
            <a:ext cx="0" cy="662880"/>
          </a:xfrm>
          <a:prstGeom prst="line">
            <a:avLst/>
          </a:prstGeom>
          <a:noFill/>
          <a:ln w="38100">
            <a:solidFill>
              <a:srgbClr val="3182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2450" y="2075557"/>
            <a:ext cx="50812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Vai su CRAN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52450" y="2311747"/>
            <a:ext cx="50812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18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cran.r-project.org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1000" y="2719388"/>
            <a:ext cx="5286375" cy="660053"/>
          </a:xfrm>
          <a:prstGeom prst="roundRect">
            <a:avLst>
              <a:gd name="adj" fmla="val 11545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2719388"/>
            <a:ext cx="0" cy="660053"/>
          </a:xfrm>
          <a:prstGeom prst="line">
            <a:avLst/>
          </a:prstGeom>
          <a:noFill/>
          <a:ln w="38100">
            <a:solidFill>
              <a:srgbClr val="3182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2450" y="2852738"/>
            <a:ext cx="50812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Seleziona il tuo sistema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2450" y="3088928"/>
            <a:ext cx="508120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R for Windows, Download R for macOS, Download R for Linux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81000" y="3493740"/>
            <a:ext cx="5286375" cy="660053"/>
          </a:xfrm>
          <a:prstGeom prst="roundRect">
            <a:avLst>
              <a:gd name="adj" fmla="val 11545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00050" y="3493740"/>
            <a:ext cx="0" cy="660053"/>
          </a:xfrm>
          <a:prstGeom prst="line">
            <a:avLst/>
          </a:prstGeom>
          <a:noFill/>
          <a:ln w="38100">
            <a:solidFill>
              <a:srgbClr val="3182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2450" y="3627090"/>
            <a:ext cx="50812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Scarica e installa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2450" y="3863280"/>
            <a:ext cx="508120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Windows: clicca base, poi Download R-4.x.x. macOS: scegli la versione per il tuo chip.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905500" y="1914525"/>
            <a:ext cx="2857500" cy="1123950"/>
          </a:xfrm>
          <a:prstGeom prst="roundRect">
            <a:avLst>
              <a:gd name="adj" fmla="val 678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57900" y="2066925"/>
            <a:ext cx="26037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750"/>
              </a:spcAft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 RACCOMANDATA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057900" y="2295525"/>
            <a:ext cx="26037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4.3+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57900" y="2619375"/>
            <a:ext cx="26037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Versioni precedenti potrebbero avere problemi con alcuni pacchetti.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05500" y="3152775"/>
            <a:ext cx="2857500" cy="552450"/>
          </a:xfrm>
          <a:prstGeom prst="roundRect">
            <a:avLst>
              <a:gd name="adj" fmla="val 10345"/>
            </a:avLst>
          </a:prstGeom>
          <a:solidFill>
            <a:srgbClr val="FFF5F5"/>
          </a:solidFill>
          <a:ln w="9525">
            <a:solidFill>
              <a:srgbClr val="C530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29325" y="3276600"/>
            <a:ext cx="26620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Windows: attenzione!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029325" y="3448050"/>
            <a:ext cx="26620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4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 anche Rtools se richiesto.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05500" y="3819525"/>
            <a:ext cx="2857500" cy="361950"/>
          </a:xfrm>
          <a:prstGeom prst="roundRect">
            <a:avLst>
              <a:gd name="adj" fmla="val 15789"/>
            </a:avLst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019800" y="3933825"/>
            <a:ext cx="26814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Verifica: apri R e digita version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647700"/>
          </a:xfrm>
          <a:prstGeom prst="roundRect">
            <a:avLst>
              <a:gd name="adj" fmla="val 8824"/>
            </a:avLst>
          </a:prstGeom>
          <a:solidFill>
            <a:srgbClr val="3182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8161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2/4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71500" y="438150"/>
            <a:ext cx="4090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Installare RStudio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1952774"/>
            <a:ext cx="5095875" cy="662880"/>
          </a:xfrm>
          <a:prstGeom prst="roundRect">
            <a:avLst>
              <a:gd name="adj" fmla="val 11495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952774"/>
            <a:ext cx="0" cy="662880"/>
          </a:xfrm>
          <a:prstGeom prst="line">
            <a:avLst/>
          </a:prstGeom>
          <a:noFill/>
          <a:ln w="38100">
            <a:solidFill>
              <a:srgbClr val="3182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2450" y="2086124"/>
            <a:ext cx="48868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Vai su Posit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52450" y="2322314"/>
            <a:ext cx="48868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18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posit.co/download/rstudio-desktop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1000" y="2729954"/>
            <a:ext cx="5095875" cy="649486"/>
          </a:xfrm>
          <a:prstGeom prst="roundRect">
            <a:avLst>
              <a:gd name="adj" fmla="val 11732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2729954"/>
            <a:ext cx="0" cy="649486"/>
          </a:xfrm>
          <a:prstGeom prst="line">
            <a:avLst/>
          </a:prstGeom>
          <a:noFill/>
          <a:ln w="38100">
            <a:solidFill>
              <a:srgbClr val="3182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2450" y="2863304"/>
            <a:ext cx="48868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Scarica RStudio Desktop (Free)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2450" y="3099495"/>
            <a:ext cx="48868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Clicca Download per il tuo sistema operativo.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81000" y="3493740"/>
            <a:ext cx="5095875" cy="649486"/>
          </a:xfrm>
          <a:prstGeom prst="roundRect">
            <a:avLst>
              <a:gd name="adj" fmla="val 11732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00050" y="3493740"/>
            <a:ext cx="0" cy="649486"/>
          </a:xfrm>
          <a:prstGeom prst="line">
            <a:avLst/>
          </a:prstGeom>
          <a:noFill/>
          <a:ln w="38100">
            <a:solidFill>
              <a:srgbClr val="3182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2450" y="3627090"/>
            <a:ext cx="48868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Installa e avvia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2450" y="3863280"/>
            <a:ext cx="48868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RStudio rileva automaticamente R. Al primo avvio vedrai 4 pannelli.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715000" y="2038350"/>
            <a:ext cx="3048000" cy="1238250"/>
          </a:xfrm>
          <a:prstGeom prst="roundRect">
            <a:avLst>
              <a:gd name="adj" fmla="val 6154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867400" y="2190750"/>
            <a:ext cx="27980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750"/>
              </a:spcAft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4 PANNELLI DI RSTUDIO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867400" y="2419350"/>
            <a:ext cx="27980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 - esegui comandi R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867400" y="2609850"/>
            <a:ext cx="27980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- scrivi script .R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867400" y="2800350"/>
            <a:ext cx="27980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- vedi variabili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867400" y="2990850"/>
            <a:ext cx="27980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Plots/Help - grafici e documentazione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715000" y="3390900"/>
            <a:ext cx="3048000" cy="666750"/>
          </a:xfrm>
          <a:prstGeom prst="roundRect">
            <a:avLst>
              <a:gd name="adj" fmla="val 8571"/>
            </a:avLst>
          </a:prstGeom>
          <a:solidFill>
            <a:srgbClr val="EBF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829300" y="3505200"/>
            <a:ext cx="28757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Perche RStudio?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829300" y="3676650"/>
            <a:ext cx="28757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Autocompletamento, visualizzazione dati, gestione pacchetti, debug.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647700"/>
          </a:xfrm>
          <a:prstGeom prst="roundRect">
            <a:avLst>
              <a:gd name="adj" fmla="val 8824"/>
            </a:avLst>
          </a:prstGeom>
          <a:solidFill>
            <a:srgbClr val="3182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8161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3/4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71500" y="438150"/>
            <a:ext cx="4090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Installare i Pacchetti 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1723132"/>
            <a:ext cx="5334000" cy="1544241"/>
          </a:xfrm>
          <a:prstGeom prst="roundRect">
            <a:avLst>
              <a:gd name="adj" fmla="val 3701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1856482"/>
            <a:ext cx="51686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 E INCOLLA NELLA CONSOLE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14350" y="2066032"/>
            <a:ext cx="5168646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Pacchetti essenziali</a:t>
            </a:r>
            <a:endParaRPr lang="en-US" sz="825" dirty="0"/>
          </a:p>
          <a:p>
            <a:pPr algn="l" indent="0" marL="0">
              <a:lnSpc>
                <a:spcPts val="1402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install.packages("igraph")</a:t>
            </a:r>
            <a:endParaRPr lang="en-US" sz="825" dirty="0"/>
          </a:p>
          <a:p>
            <a:pPr algn="l" indent="0" marL="0">
              <a:lnSpc>
                <a:spcPts val="1402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install.packages("tidyverse")</a:t>
            </a:r>
            <a:endParaRPr lang="en-US" sz="825" dirty="0"/>
          </a:p>
          <a:p>
            <a:pPr algn="l" indent="0" marL="0">
              <a:lnSpc>
                <a:spcPts val="1402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install.packages("ggraph")</a:t>
            </a:r>
            <a:endParaRPr lang="en-US" sz="825" dirty="0"/>
          </a:p>
          <a:p>
            <a:pPr algn="l" indent="0" marL="0">
              <a:lnSpc>
                <a:spcPts val="1402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install.packages("ggpubr")</a:t>
            </a:r>
            <a:endParaRPr lang="en-US" sz="825" dirty="0"/>
          </a:p>
          <a:p>
            <a:pPr algn="l" indent="0" marL="0">
              <a:lnSpc>
                <a:spcPts val="1402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install.packages("corrplot")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81000" y="3362623"/>
            <a:ext cx="5334000" cy="1010245"/>
          </a:xfrm>
          <a:prstGeom prst="roundRect">
            <a:avLst>
              <a:gd name="adj" fmla="val 5657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4350" y="3495973"/>
            <a:ext cx="51686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L INSTALLAZIONE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14350" y="3705523"/>
            <a:ext cx="5168646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2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library(igraph)</a:t>
            </a:r>
            <a:endParaRPr lang="en-US" sz="825" dirty="0"/>
          </a:p>
          <a:p>
            <a:pPr algn="l" indent="0" marL="0">
              <a:lnSpc>
                <a:spcPts val="1402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library(ggraph)</a:t>
            </a:r>
            <a:endParaRPr lang="en-US" sz="825" dirty="0"/>
          </a:p>
          <a:p>
            <a:pPr algn="l" indent="0" marL="0">
              <a:lnSpc>
                <a:spcPts val="1402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 non ci sono errori, OK!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905500" y="2079278"/>
            <a:ext cx="2857500" cy="1327696"/>
          </a:xfrm>
          <a:prstGeom prst="roundRect">
            <a:avLst>
              <a:gd name="adj" fmla="val 5739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38850" y="2212628"/>
            <a:ext cx="26426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fanno questi pacchetti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6038850" y="2454473"/>
            <a:ext cx="26426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igraph - analisi di rete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038850" y="2625923"/>
            <a:ext cx="26426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tidyverse - manipolazione dati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038850" y="2797373"/>
            <a:ext cx="26426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ggraph - visualizzazione reti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038850" y="2968823"/>
            <a:ext cx="26426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ggpubr - grafici pubblicazione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038850" y="3140273"/>
            <a:ext cx="26426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corrplot - matrici correlazione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905500" y="3502223"/>
            <a:ext cx="2857500" cy="514350"/>
          </a:xfrm>
          <a:prstGeom prst="roundRect">
            <a:avLst>
              <a:gd name="adj" fmla="val 11111"/>
            </a:avLst>
          </a:prstGeom>
          <a:solidFill>
            <a:srgbClr val="FFFAF0"/>
          </a:solidFill>
          <a:ln w="9525">
            <a:solidFill>
              <a:srgbClr val="ED89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010275" y="3606998"/>
            <a:ext cx="27009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stimato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010275" y="3778448"/>
            <a:ext cx="27009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5-15 minuti. Alcuni messaggi rossi sono normali!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647700"/>
          </a:xfrm>
          <a:prstGeom prst="roundRect">
            <a:avLst>
              <a:gd name="adj" fmla="val 8824"/>
            </a:avLst>
          </a:prstGeom>
          <a:solidFill>
            <a:srgbClr val="38A1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8161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4/4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71500" y="438150"/>
            <a:ext cx="4090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Installare Gephi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1952774"/>
            <a:ext cx="5286375" cy="662880"/>
          </a:xfrm>
          <a:prstGeom prst="roundRect">
            <a:avLst>
              <a:gd name="adj" fmla="val 11495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952774"/>
            <a:ext cx="0" cy="662880"/>
          </a:xfrm>
          <a:prstGeom prst="line">
            <a:avLst/>
          </a:prstGeom>
          <a:noFill/>
          <a:ln w="38100">
            <a:solidFill>
              <a:srgbClr val="38A1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2450" y="2086124"/>
            <a:ext cx="50812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Vai sul sito ufficiale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52450" y="2322314"/>
            <a:ext cx="50812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gephi.org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1000" y="2729954"/>
            <a:ext cx="5286375" cy="649486"/>
          </a:xfrm>
          <a:prstGeom prst="roundRect">
            <a:avLst>
              <a:gd name="adj" fmla="val 11732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2729954"/>
            <a:ext cx="0" cy="649486"/>
          </a:xfrm>
          <a:prstGeom prst="line">
            <a:avLst/>
          </a:prstGeom>
          <a:noFill/>
          <a:ln w="38100">
            <a:solidFill>
              <a:srgbClr val="38A1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2450" y="2863304"/>
            <a:ext cx="50812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Clicca Download Free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2450" y="3099495"/>
            <a:ext cx="50812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Seleziona la versione per il tuo OS: Windows (.exe), macOS (.dmg), Linux (.tar.gz)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81000" y="3493740"/>
            <a:ext cx="5286375" cy="649486"/>
          </a:xfrm>
          <a:prstGeom prst="roundRect">
            <a:avLst>
              <a:gd name="adj" fmla="val 11732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00050" y="3493740"/>
            <a:ext cx="0" cy="649486"/>
          </a:xfrm>
          <a:prstGeom prst="line">
            <a:avLst/>
          </a:prstGeom>
          <a:noFill/>
          <a:ln w="38100">
            <a:solidFill>
              <a:srgbClr val="38A1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2450" y="3627090"/>
            <a:ext cx="50812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Installa e avvia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2450" y="3863280"/>
            <a:ext cx="50812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 il wizard. Gephi potrebbe chiedere di installare Java.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905500" y="1914525"/>
            <a:ext cx="2857500" cy="990600"/>
          </a:xfrm>
          <a:prstGeom prst="roundRect">
            <a:avLst>
              <a:gd name="adj" fmla="val 7692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57900" y="2066925"/>
            <a:ext cx="26037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750"/>
              </a:spcAft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 RACCOMANDATA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057900" y="2295525"/>
            <a:ext cx="26037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Gephi 0.10+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57900" y="2619375"/>
            <a:ext cx="26037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Richiede Java 11+. Su macOS M1/M2 usa la versione ARM.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05500" y="3019425"/>
            <a:ext cx="2857500" cy="685800"/>
          </a:xfrm>
          <a:prstGeom prst="roundRect">
            <a:avLst>
              <a:gd name="adj" fmla="val 8333"/>
            </a:avLst>
          </a:prstGeom>
          <a:solidFill>
            <a:srgbClr val="FFF5F5"/>
          </a:solidFill>
          <a:ln w="9525">
            <a:solidFill>
              <a:srgbClr val="C530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29325" y="3143250"/>
            <a:ext cx="26620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macOS: Gatekeeper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029325" y="3314700"/>
            <a:ext cx="26620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4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macOS blocca l app: Preferenze Sistema, Sicurezza, Apri comunque.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05500" y="3819525"/>
            <a:ext cx="2857500" cy="361950"/>
          </a:xfrm>
          <a:prstGeom prst="roundRect">
            <a:avLst>
              <a:gd name="adj" fmla="val 15789"/>
            </a:avLst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019800" y="3933825"/>
            <a:ext cx="26814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Verifica: apri Gephi e crea un nuovo progetto.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495300"/>
          </a:xfrm>
          <a:prstGeom prst="roundRect">
            <a:avLst>
              <a:gd name="adj" fmla="val 11538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4090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Materiale Didattico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385143"/>
            <a:ext cx="5476875" cy="1264593"/>
          </a:xfrm>
          <a:prstGeom prst="roundRect">
            <a:avLst>
              <a:gd name="adj" fmla="val 6026"/>
            </a:avLst>
          </a:prstGeom>
          <a:solidFill>
            <a:srgbClr val="EBF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385143"/>
            <a:ext cx="0" cy="1264593"/>
          </a:xfrm>
          <a:prstGeom prst="line">
            <a:avLst/>
          </a:prstGeom>
          <a:noFill/>
          <a:ln w="38100">
            <a:solidFill>
              <a:srgbClr val="3182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0550" y="1556593"/>
            <a:ext cx="519779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Atlas for the Aspiring Network Scientist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0550" y="1846064"/>
            <a:ext cx="51977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Michele Coscia, 2nd edition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0550" y="2063204"/>
            <a:ext cx="519779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3182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https://networkatlas.eu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590550" y="2331690"/>
            <a:ext cx="51977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Manuale completo e gratuito. 700+ pagine con teoria, algoritmi e applicazioni pratiche.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81000" y="2764036"/>
            <a:ext cx="5476875" cy="839986"/>
          </a:xfrm>
          <a:prstGeom prst="roundRect">
            <a:avLst>
              <a:gd name="adj" fmla="val 9072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4350" y="2897386"/>
            <a:ext cx="53143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Capitoli consigliati per Lezione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4350" y="3152626"/>
            <a:ext cx="25600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III</a:t>
            </a:r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Extended Node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14350" y="3337322"/>
            <a:ext cx="25600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Cap. 7-9: Degree, Paths, Components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214688" y="3152626"/>
            <a:ext cx="25600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IV</a:t>
            </a:r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Node Ranking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214688" y="3337322"/>
            <a:ext cx="25600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Cap. 13-15: Centrality measures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81000" y="3718322"/>
            <a:ext cx="5476875" cy="839986"/>
          </a:xfrm>
          <a:prstGeom prst="roundRect">
            <a:avLst>
              <a:gd name="adj" fmla="val 9072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4350" y="3851672"/>
            <a:ext cx="53143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Capitoli consigliati per Lezione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4350" y="4106912"/>
            <a:ext cx="25600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V</a:t>
            </a:r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Mesoscale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514350" y="4291608"/>
            <a:ext cx="25600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Cap. 16-20: Community detection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214688" y="4106912"/>
            <a:ext cx="25600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II</a:t>
            </a:r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Simple Topology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3214688" y="4291608"/>
            <a:ext cx="25600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Cap. 6: Bipartite Networks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096000" y="1869728"/>
            <a:ext cx="2667000" cy="1403896"/>
          </a:xfrm>
          <a:prstGeom prst="roundRect">
            <a:avLst>
              <a:gd name="adj" fmla="val 5428"/>
            </a:avLst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115050" y="1869728"/>
            <a:ext cx="0" cy="1403896"/>
          </a:xfrm>
          <a:prstGeom prst="line">
            <a:avLst/>
          </a:prstGeom>
          <a:noFill/>
          <a:ln w="38100">
            <a:solidFill>
              <a:srgbClr val="38A1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7450" y="2003078"/>
            <a:ext cx="24094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Altre risorse online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6267450" y="2225873"/>
            <a:ext cx="24094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igraph R manual</a:t>
            </a:r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endParaRPr lang="en-US" sz="750" dirty="0"/>
          </a:p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igraph.org/r/doc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267450" y="2549723"/>
            <a:ext cx="24094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Gephi Tutorial</a:t>
            </a:r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endParaRPr lang="en-US" sz="750" dirty="0"/>
          </a:p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gephi.org/users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267450" y="2873573"/>
            <a:ext cx="24094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for Data Science</a:t>
            </a:r>
            <a:pPr algn="l" indent="0" marL="0">
              <a:lnSpc>
                <a:spcPts val="1050"/>
              </a:lnSpc>
              <a:buNone/>
            </a:pPr>
            <a:endParaRPr lang="en-US" sz="75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r4ds.hadley.nz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096000" y="3387923"/>
            <a:ext cx="2667000" cy="685800"/>
          </a:xfrm>
          <a:prstGeom prst="roundRect">
            <a:avLst>
              <a:gd name="adj" fmla="val 8333"/>
            </a:avLst>
          </a:prstGeom>
          <a:solidFill>
            <a:srgbClr val="FFFAF0"/>
          </a:solidFill>
          <a:ln w="9525">
            <a:solidFill>
              <a:srgbClr val="ED89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219825" y="3511748"/>
            <a:ext cx="24677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219825" y="3683198"/>
            <a:ext cx="24677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lettura del libro e fortemente consigliata ma non obbligatoria. Le slide coprono i concetti essenziali.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495300"/>
          </a:xfrm>
          <a:prstGeom prst="roundRect">
            <a:avLst>
              <a:gd name="adj" fmla="val 11538"/>
            </a:avLst>
          </a:prstGeom>
          <a:solidFill>
            <a:srgbClr val="ED89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4090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Materiali per il Laboratorio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649760"/>
            <a:ext cx="5286375" cy="941040"/>
          </a:xfrm>
          <a:prstGeom prst="roundRect">
            <a:avLst>
              <a:gd name="adj" fmla="val 8097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802160"/>
            <a:ext cx="50812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750"/>
              </a:spcAft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MATERIALI CORSO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33400" y="2030760"/>
            <a:ext cx="50812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https://github.com/fabiogiglietto/sna-luiss-2026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3400" y="2305050"/>
            <a:ext cx="50812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Clicca "Code" poi "Download ZIP" oppure clona con git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81000" y="2705100"/>
            <a:ext cx="5286375" cy="1588740"/>
          </a:xfrm>
          <a:prstGeom prst="roundRect">
            <a:avLst>
              <a:gd name="adj" fmla="val 4796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4350" y="2838450"/>
            <a:ext cx="51200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Contenuto del pacchetto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14350" y="3093690"/>
            <a:ext cx="381149" cy="209550"/>
          </a:xfrm>
          <a:prstGeom prst="roundRect">
            <a:avLst>
              <a:gd name="adj" fmla="val 18182"/>
            </a:avLst>
          </a:prstGeom>
          <a:solidFill>
            <a:srgbClr val="3182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0550" y="3131790"/>
            <a:ext cx="2333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.csv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971699" y="3125093"/>
            <a:ext cx="22075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stormofswords.csv - Dataset Game of Thrones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14350" y="3379440"/>
            <a:ext cx="266849" cy="209550"/>
          </a:xfrm>
          <a:prstGeom prst="roundRect">
            <a:avLst>
              <a:gd name="adj" fmla="val 18182"/>
            </a:avLst>
          </a:prstGeom>
          <a:solidFill>
            <a:srgbClr val="3182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90550" y="3417540"/>
            <a:ext cx="1167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857399" y="3410843"/>
            <a:ext cx="23050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lab_sna_lezione1.R - Script completo laboratorio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514350" y="3665190"/>
            <a:ext cx="266849" cy="209550"/>
          </a:xfrm>
          <a:prstGeom prst="roundRect">
            <a:avLst>
              <a:gd name="adj" fmla="val 18182"/>
            </a:avLst>
          </a:prstGeom>
          <a:solidFill>
            <a:srgbClr val="3182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90550" y="3703290"/>
            <a:ext cx="1167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857399" y="3696593"/>
            <a:ext cx="212056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setup_verifica.R - Script verifica installazione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514350" y="3950940"/>
            <a:ext cx="495449" cy="209550"/>
          </a:xfrm>
          <a:prstGeom prst="roundRect">
            <a:avLst>
              <a:gd name="adj" fmla="val 18182"/>
            </a:avLst>
          </a:prstGeom>
          <a:solidFill>
            <a:srgbClr val="38A1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90550" y="3989040"/>
            <a:ext cx="3499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.RData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085999" y="3982343"/>
            <a:ext cx="20355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lezione2.RData - Dati Twitter per Lezione 2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5905500" y="1701254"/>
            <a:ext cx="2857500" cy="1213396"/>
          </a:xfrm>
          <a:prstGeom prst="roundRect">
            <a:avLst>
              <a:gd name="adj" fmla="val 6280"/>
            </a:avLst>
          </a:prstGeom>
          <a:solidFill>
            <a:srgbClr val="F0FFF4"/>
          </a:solidFill>
          <a:ln w="9525">
            <a:solidFill>
              <a:srgbClr val="38A1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48375" y="1844129"/>
            <a:ext cx="26231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 della lezione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6048375" y="2066925"/>
            <a:ext cx="26231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Scarica i materiali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048375" y="2257425"/>
            <a:ext cx="26231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Estrai lo ZIP in una cartella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048375" y="2447925"/>
            <a:ext cx="26231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Apri RStudio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048375" y="2638425"/>
            <a:ext cx="26231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Esegui setup_verifica.R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905500" y="3028950"/>
            <a:ext cx="2857500" cy="756196"/>
          </a:xfrm>
          <a:prstGeom prst="roundRect">
            <a:avLst>
              <a:gd name="adj" fmla="val 10077"/>
            </a:avLst>
          </a:prstGeom>
          <a:solidFill>
            <a:srgbClr val="EBF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038850" y="3162300"/>
            <a:ext cx="26426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directory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6038850" y="3385096"/>
            <a:ext cx="26426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RStudio: Session, Set Working Directory, Choose Directory... e seleziona la cartella con i file.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905500" y="3899446"/>
            <a:ext cx="2857500" cy="342900"/>
          </a:xfrm>
          <a:prstGeom prst="roundRect">
            <a:avLst>
              <a:gd name="adj" fmla="val 16667"/>
            </a:avLst>
          </a:prstGeom>
          <a:solidFill>
            <a:srgbClr val="FFFAF0"/>
          </a:solidFill>
          <a:ln w="9525">
            <a:solidFill>
              <a:srgbClr val="ED89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010275" y="4004221"/>
            <a:ext cx="27009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Problemi con il download? Contatta il docente.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ED89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85305" y="675382"/>
            <a:ext cx="257324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225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Pronti per Iniziare!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403277" y="1418332"/>
            <a:ext cx="1318766" cy="1556296"/>
          </a:xfrm>
          <a:prstGeom prst="roundRect">
            <a:avLst>
              <a:gd name="adj" fmla="val 5778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45537" y="1570732"/>
            <a:ext cx="10342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2545537" y="1793528"/>
            <a:ext cx="103424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+ RStudio installati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Pacchetti R installati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Gephi installato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Materiali scaricati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912543" y="1418332"/>
            <a:ext cx="1318766" cy="1556296"/>
          </a:xfrm>
          <a:prstGeom prst="roundRect">
            <a:avLst>
              <a:gd name="adj" fmla="val 5778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54803" y="1570732"/>
            <a:ext cx="10342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RISORSE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054803" y="1793528"/>
            <a:ext cx="103424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networkatlas.eu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igraph.org/r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gephi.org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GitHub corso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21809" y="1418332"/>
            <a:ext cx="1318766" cy="1556296"/>
          </a:xfrm>
          <a:prstGeom prst="roundRect">
            <a:avLst>
              <a:gd name="adj" fmla="val 5778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564069" y="1570732"/>
            <a:ext cx="1034245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PROSSIMA LEZIONE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564069" y="1940123"/>
            <a:ext cx="103424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Gennaio 2026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14:00 - 19:00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presenza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Porta il laptop!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91000" y="3412778"/>
            <a:ext cx="762000" cy="28575"/>
          </a:xfrm>
          <a:prstGeom prst="rect">
            <a:avLst/>
          </a:prstGeom>
          <a:solidFill>
            <a:srgbClr val="ED89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970855" y="3879503"/>
            <a:ext cx="120214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Fabio Giglietto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911042" y="4294733"/>
            <a:ext cx="132191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fabio.giglietto@uniurb.it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Network Analysis - Presentazione Corso e Setup</dc:title>
  <dc:subject>Master OSINT, AI &amp; Security Studies - LUISS 2025/26</dc:subject>
  <dc:creator>Prof. Fabio Giglietto</dc:creator>
  <cp:lastModifiedBy>Prof. Fabio Giglietto</cp:lastModifiedBy>
  <cp:revision>1</cp:revision>
  <dcterms:created xsi:type="dcterms:W3CDTF">2026-01-09T08:49:56Z</dcterms:created>
  <dcterms:modified xsi:type="dcterms:W3CDTF">2026-01-09T08:49:56Z</dcterms:modified>
</cp:coreProperties>
</file>